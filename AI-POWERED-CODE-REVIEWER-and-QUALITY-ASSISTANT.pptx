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3299" y="2104677"/>
            <a:ext cx="8458835" cy="289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10058400" cy="77701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-1"/>
            <a:ext cx="10058400" cy="7770495"/>
          </a:xfrm>
          <a:custGeom>
            <a:avLst/>
            <a:gdLst/>
            <a:ahLst/>
            <a:cxnLst/>
            <a:rect l="l" t="t" r="r" b="b"/>
            <a:pathLst>
              <a:path w="10058400" h="7770495">
                <a:moveTo>
                  <a:pt x="10058400" y="0"/>
                </a:moveTo>
                <a:lnTo>
                  <a:pt x="0" y="0"/>
                </a:lnTo>
                <a:lnTo>
                  <a:pt x="0" y="7770114"/>
                </a:lnTo>
                <a:lnTo>
                  <a:pt x="10058400" y="7770114"/>
                </a:lnTo>
                <a:lnTo>
                  <a:pt x="10058400" y="0"/>
                </a:lnTo>
                <a:close/>
              </a:path>
            </a:pathLst>
          </a:custGeom>
          <a:solidFill>
            <a:srgbClr val="00002E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299" y="1410650"/>
            <a:ext cx="5781040" cy="490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640" y="2162557"/>
            <a:ext cx="4309110" cy="4180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100" spc="-310">
                <a:latin typeface="Tahoma"/>
                <a:cs typeface="Tahoma"/>
              </a:rPr>
              <a:t>AI-</a:t>
            </a:r>
            <a:r>
              <a:rPr dirty="0" sz="6100">
                <a:latin typeface="Tahoma"/>
                <a:cs typeface="Tahoma"/>
              </a:rPr>
              <a:t>POWERED</a:t>
            </a:r>
            <a:r>
              <a:rPr dirty="0" sz="6100" spc="-285">
                <a:latin typeface="Tahoma"/>
                <a:cs typeface="Tahoma"/>
              </a:rPr>
              <a:t> </a:t>
            </a:r>
            <a:r>
              <a:rPr dirty="0" sz="6100" spc="-20">
                <a:latin typeface="Tahoma"/>
                <a:cs typeface="Tahoma"/>
              </a:rPr>
              <a:t>CODE</a:t>
            </a:r>
            <a:endParaRPr sz="610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65"/>
              </a:spcBef>
            </a:pPr>
            <a:r>
              <a:rPr dirty="0" sz="6100" spc="-170">
                <a:latin typeface="Tahoma"/>
                <a:cs typeface="Tahoma"/>
              </a:rPr>
              <a:t>REVIEWER</a:t>
            </a:r>
            <a:r>
              <a:rPr dirty="0" sz="6100" spc="-245">
                <a:latin typeface="Tahoma"/>
                <a:cs typeface="Tahoma"/>
              </a:rPr>
              <a:t> </a:t>
            </a:r>
            <a:r>
              <a:rPr dirty="0" sz="6100" spc="-385">
                <a:latin typeface="Tahoma"/>
                <a:cs typeface="Tahoma"/>
              </a:rPr>
              <a:t>&amp;</a:t>
            </a:r>
            <a:r>
              <a:rPr dirty="0" sz="6100" spc="-140">
                <a:latin typeface="Tahoma"/>
                <a:cs typeface="Tahoma"/>
              </a:rPr>
              <a:t> QUALITY </a:t>
            </a:r>
            <a:r>
              <a:rPr dirty="0" sz="6100" spc="-40">
                <a:latin typeface="Tahoma"/>
                <a:cs typeface="Tahoma"/>
              </a:rPr>
              <a:t>ASSISTANT</a:t>
            </a:r>
            <a:endParaRPr sz="61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3299" y="5287154"/>
            <a:ext cx="3775710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-10" b="1">
                <a:solidFill>
                  <a:srgbClr val="FFFFFF"/>
                </a:solidFill>
                <a:latin typeface="Tahoma"/>
                <a:cs typeface="Tahoma"/>
              </a:rPr>
              <a:t>PRESENTED</a:t>
            </a:r>
            <a:r>
              <a:rPr dirty="0" sz="180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FFFFFF"/>
                </a:solidFill>
                <a:latin typeface="Tahoma"/>
                <a:cs typeface="Tahoma"/>
              </a:rPr>
              <a:t>BY:</a:t>
            </a:r>
            <a:r>
              <a:rPr dirty="0" sz="1800" spc="-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65" b="1">
                <a:solidFill>
                  <a:srgbClr val="FFFFFF"/>
                </a:solidFill>
                <a:latin typeface="Tahoma"/>
                <a:cs typeface="Tahoma"/>
              </a:rPr>
              <a:t>JYOTSNAMATHI</a:t>
            </a:r>
            <a:r>
              <a:rPr dirty="0" sz="180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315" b="1">
                <a:solidFill>
                  <a:srgbClr val="FFFFFF"/>
                </a:solidFill>
                <a:latin typeface="Tahoma"/>
                <a:cs typeface="Tahoma"/>
              </a:rPr>
              <a:t>J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355" y="2229611"/>
            <a:ext cx="1081405" cy="310515"/>
            <a:chOff x="578355" y="2229611"/>
            <a:chExt cx="1081405" cy="310515"/>
          </a:xfrm>
        </p:grpSpPr>
        <p:sp>
          <p:nvSpPr>
            <p:cNvPr id="3" name="object 3" descr=""/>
            <p:cNvSpPr/>
            <p:nvPr/>
          </p:nvSpPr>
          <p:spPr>
            <a:xfrm>
              <a:off x="578355" y="2229611"/>
              <a:ext cx="1081405" cy="310515"/>
            </a:xfrm>
            <a:custGeom>
              <a:avLst/>
              <a:gdLst/>
              <a:ahLst/>
              <a:cxnLst/>
              <a:rect l="l" t="t" r="r" b="b"/>
              <a:pathLst>
                <a:path w="1081405" h="310514">
                  <a:moveTo>
                    <a:pt x="926213" y="0"/>
                  </a:moveTo>
                  <a:lnTo>
                    <a:pt x="155069" y="0"/>
                  </a:lnTo>
                  <a:lnTo>
                    <a:pt x="147452" y="185"/>
                  </a:lnTo>
                  <a:lnTo>
                    <a:pt x="102835" y="9054"/>
                  </a:lnTo>
                  <a:lnTo>
                    <a:pt x="62688" y="30520"/>
                  </a:lnTo>
                  <a:lnTo>
                    <a:pt x="30521" y="62683"/>
                  </a:lnTo>
                  <a:lnTo>
                    <a:pt x="9062" y="102832"/>
                  </a:lnTo>
                  <a:lnTo>
                    <a:pt x="186" y="147447"/>
                  </a:lnTo>
                  <a:lnTo>
                    <a:pt x="0" y="155067"/>
                  </a:lnTo>
                  <a:lnTo>
                    <a:pt x="186" y="162681"/>
                  </a:lnTo>
                  <a:lnTo>
                    <a:pt x="9062" y="207301"/>
                  </a:lnTo>
                  <a:lnTo>
                    <a:pt x="30521" y="247450"/>
                  </a:lnTo>
                  <a:lnTo>
                    <a:pt x="62688" y="279613"/>
                  </a:lnTo>
                  <a:lnTo>
                    <a:pt x="102835" y="301068"/>
                  </a:lnTo>
                  <a:lnTo>
                    <a:pt x="147452" y="309948"/>
                  </a:lnTo>
                  <a:lnTo>
                    <a:pt x="155069" y="310134"/>
                  </a:lnTo>
                  <a:lnTo>
                    <a:pt x="926213" y="310134"/>
                  </a:lnTo>
                  <a:lnTo>
                    <a:pt x="971227" y="303455"/>
                  </a:lnTo>
                  <a:lnTo>
                    <a:pt x="1012370" y="283997"/>
                  </a:lnTo>
                  <a:lnTo>
                    <a:pt x="1046085" y="253442"/>
                  </a:lnTo>
                  <a:lnTo>
                    <a:pt x="1069469" y="214414"/>
                  </a:lnTo>
                  <a:lnTo>
                    <a:pt x="1080536" y="170264"/>
                  </a:lnTo>
                  <a:lnTo>
                    <a:pt x="1081280" y="155067"/>
                  </a:lnTo>
                  <a:lnTo>
                    <a:pt x="1081094" y="147447"/>
                  </a:lnTo>
                  <a:lnTo>
                    <a:pt x="1072214" y="102832"/>
                  </a:lnTo>
                  <a:lnTo>
                    <a:pt x="1050760" y="62683"/>
                  </a:lnTo>
                  <a:lnTo>
                    <a:pt x="1018597" y="30520"/>
                  </a:lnTo>
                  <a:lnTo>
                    <a:pt x="978448" y="9054"/>
                  </a:lnTo>
                  <a:lnTo>
                    <a:pt x="933833" y="185"/>
                  </a:lnTo>
                  <a:lnTo>
                    <a:pt x="926213" y="0"/>
                  </a:lnTo>
                  <a:close/>
                </a:path>
              </a:pathLst>
            </a:custGeom>
            <a:solidFill>
              <a:srgbClr val="4832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567" y="2326223"/>
              <a:ext cx="137589" cy="12270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59288" y="2286482"/>
            <a:ext cx="71183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75">
                <a:solidFill>
                  <a:srgbClr val="FFFFFF"/>
                </a:solidFill>
                <a:latin typeface="Verdana"/>
                <a:cs typeface="Verdana"/>
              </a:rPr>
              <a:t>CHALLENGE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2524" y="2575745"/>
            <a:ext cx="5006340" cy="4902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80"/>
              <a:t> </a:t>
            </a:r>
            <a:r>
              <a:rPr dirty="0"/>
              <a:t>Code</a:t>
            </a:r>
            <a:r>
              <a:rPr dirty="0" spc="-180"/>
              <a:t> </a:t>
            </a:r>
            <a:r>
              <a:rPr dirty="0" spc="-20"/>
              <a:t>Review</a:t>
            </a:r>
            <a:r>
              <a:rPr dirty="0" spc="-175"/>
              <a:t> </a:t>
            </a:r>
            <a:r>
              <a:rPr dirty="0" spc="-10"/>
              <a:t>Challenge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578358" y="3336035"/>
            <a:ext cx="2104390" cy="1760220"/>
            <a:chOff x="578358" y="3336035"/>
            <a:chExt cx="2104390" cy="1760220"/>
          </a:xfrm>
        </p:grpSpPr>
        <p:sp>
          <p:nvSpPr>
            <p:cNvPr id="8" name="object 8" descr=""/>
            <p:cNvSpPr/>
            <p:nvPr/>
          </p:nvSpPr>
          <p:spPr>
            <a:xfrm>
              <a:off x="586740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1889785" y="0"/>
                  </a:moveTo>
                  <a:lnTo>
                    <a:pt x="197336" y="0"/>
                  </a:lnTo>
                  <a:lnTo>
                    <a:pt x="187641" y="236"/>
                  </a:lnTo>
                  <a:lnTo>
                    <a:pt x="149376" y="5914"/>
                  </a:lnTo>
                  <a:lnTo>
                    <a:pt x="112954" y="18950"/>
                  </a:lnTo>
                  <a:lnTo>
                    <a:pt x="79772" y="38839"/>
                  </a:lnTo>
                  <a:lnTo>
                    <a:pt x="51112" y="64817"/>
                  </a:lnTo>
                  <a:lnTo>
                    <a:pt x="28069" y="95895"/>
                  </a:lnTo>
                  <a:lnTo>
                    <a:pt x="11529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1546123"/>
                  </a:lnTo>
                  <a:lnTo>
                    <a:pt x="3789" y="1584617"/>
                  </a:lnTo>
                  <a:lnTo>
                    <a:pt x="15021" y="1621637"/>
                  </a:lnTo>
                  <a:lnTo>
                    <a:pt x="33258" y="1655749"/>
                  </a:lnTo>
                  <a:lnTo>
                    <a:pt x="57800" y="1685658"/>
                  </a:lnTo>
                  <a:lnTo>
                    <a:pt x="87699" y="1710194"/>
                  </a:lnTo>
                  <a:lnTo>
                    <a:pt x="121820" y="1728431"/>
                  </a:lnTo>
                  <a:lnTo>
                    <a:pt x="158838" y="1739658"/>
                  </a:lnTo>
                  <a:lnTo>
                    <a:pt x="197336" y="1743456"/>
                  </a:lnTo>
                  <a:lnTo>
                    <a:pt x="1889785" y="1743456"/>
                  </a:lnTo>
                  <a:lnTo>
                    <a:pt x="1928279" y="1739658"/>
                  </a:lnTo>
                  <a:lnTo>
                    <a:pt x="1965299" y="1728431"/>
                  </a:lnTo>
                  <a:lnTo>
                    <a:pt x="1999411" y="1710194"/>
                  </a:lnTo>
                  <a:lnTo>
                    <a:pt x="2029320" y="1685658"/>
                  </a:lnTo>
                  <a:lnTo>
                    <a:pt x="2053856" y="1655749"/>
                  </a:lnTo>
                  <a:lnTo>
                    <a:pt x="2072093" y="1621637"/>
                  </a:lnTo>
                  <a:lnTo>
                    <a:pt x="2083320" y="1584617"/>
                  </a:lnTo>
                  <a:lnTo>
                    <a:pt x="2087118" y="1546123"/>
                  </a:lnTo>
                  <a:lnTo>
                    <a:pt x="2087118" y="197332"/>
                  </a:lnTo>
                  <a:lnTo>
                    <a:pt x="2083320" y="158838"/>
                  </a:lnTo>
                  <a:lnTo>
                    <a:pt x="2072093" y="121818"/>
                  </a:lnTo>
                  <a:lnTo>
                    <a:pt x="2053856" y="87706"/>
                  </a:lnTo>
                  <a:lnTo>
                    <a:pt x="2029320" y="57797"/>
                  </a:lnTo>
                  <a:lnTo>
                    <a:pt x="1999411" y="33261"/>
                  </a:lnTo>
                  <a:lnTo>
                    <a:pt x="1965299" y="15024"/>
                  </a:lnTo>
                  <a:lnTo>
                    <a:pt x="1928279" y="3797"/>
                  </a:lnTo>
                  <a:lnTo>
                    <a:pt x="1889785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6740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0" y="1546123"/>
                  </a:moveTo>
                  <a:lnTo>
                    <a:pt x="0" y="197332"/>
                  </a:lnTo>
                  <a:lnTo>
                    <a:pt x="237" y="187640"/>
                  </a:lnTo>
                  <a:lnTo>
                    <a:pt x="5914" y="149375"/>
                  </a:lnTo>
                  <a:lnTo>
                    <a:pt x="18949" y="112950"/>
                  </a:lnTo>
                  <a:lnTo>
                    <a:pt x="38841" y="79771"/>
                  </a:lnTo>
                  <a:lnTo>
                    <a:pt x="64823" y="51111"/>
                  </a:lnTo>
                  <a:lnTo>
                    <a:pt x="95893" y="28070"/>
                  </a:lnTo>
                  <a:lnTo>
                    <a:pt x="130868" y="11528"/>
                  </a:lnTo>
                  <a:lnTo>
                    <a:pt x="168391" y="2132"/>
                  </a:lnTo>
                  <a:lnTo>
                    <a:pt x="197336" y="0"/>
                  </a:lnTo>
                  <a:lnTo>
                    <a:pt x="1889785" y="0"/>
                  </a:lnTo>
                  <a:lnTo>
                    <a:pt x="1928279" y="3797"/>
                  </a:lnTo>
                  <a:lnTo>
                    <a:pt x="1965299" y="15024"/>
                  </a:lnTo>
                  <a:lnTo>
                    <a:pt x="1999411" y="33261"/>
                  </a:lnTo>
                  <a:lnTo>
                    <a:pt x="2029320" y="57797"/>
                  </a:lnTo>
                  <a:lnTo>
                    <a:pt x="2053856" y="87706"/>
                  </a:lnTo>
                  <a:lnTo>
                    <a:pt x="2072093" y="121818"/>
                  </a:lnTo>
                  <a:lnTo>
                    <a:pt x="2083320" y="158838"/>
                  </a:lnTo>
                  <a:lnTo>
                    <a:pt x="2087118" y="197332"/>
                  </a:lnTo>
                  <a:lnTo>
                    <a:pt x="2087118" y="1546123"/>
                  </a:lnTo>
                  <a:lnTo>
                    <a:pt x="2083320" y="1584617"/>
                  </a:lnTo>
                  <a:lnTo>
                    <a:pt x="2072093" y="1621637"/>
                  </a:lnTo>
                  <a:lnTo>
                    <a:pt x="2053856" y="1655749"/>
                  </a:lnTo>
                  <a:lnTo>
                    <a:pt x="2029320" y="1685658"/>
                  </a:lnTo>
                  <a:lnTo>
                    <a:pt x="1999411" y="1710194"/>
                  </a:lnTo>
                  <a:lnTo>
                    <a:pt x="1965299" y="1728431"/>
                  </a:lnTo>
                  <a:lnTo>
                    <a:pt x="1928279" y="1739658"/>
                  </a:lnTo>
                  <a:lnTo>
                    <a:pt x="1889785" y="1743456"/>
                  </a:lnTo>
                  <a:lnTo>
                    <a:pt x="197336" y="1743456"/>
                  </a:lnTo>
                  <a:lnTo>
                    <a:pt x="158838" y="1739658"/>
                  </a:lnTo>
                  <a:lnTo>
                    <a:pt x="121820" y="1728431"/>
                  </a:lnTo>
                  <a:lnTo>
                    <a:pt x="87699" y="1710194"/>
                  </a:lnTo>
                  <a:lnTo>
                    <a:pt x="57800" y="1685658"/>
                  </a:lnTo>
                  <a:lnTo>
                    <a:pt x="33258" y="1655749"/>
                  </a:lnTo>
                  <a:lnTo>
                    <a:pt x="15021" y="1621637"/>
                  </a:lnTo>
                  <a:lnTo>
                    <a:pt x="3789" y="1584617"/>
                  </a:lnTo>
                  <a:lnTo>
                    <a:pt x="0" y="1546123"/>
                  </a:lnTo>
                  <a:close/>
                </a:path>
              </a:pathLst>
            </a:custGeom>
            <a:ln w="16764">
              <a:solidFill>
                <a:srgbClr val="F2B3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44175" y="3490221"/>
            <a:ext cx="1557020" cy="1400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Time-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Intensive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4000"/>
              </a:lnSpc>
              <a:spcBef>
                <a:spcPts val="645"/>
              </a:spcBef>
            </a:pP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Manual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reviews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slow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down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FFFFFF"/>
                </a:solidFill>
                <a:latin typeface="Verdana"/>
                <a:cs typeface="Verdana"/>
              </a:rPr>
              <a:t>development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cycles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delay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deployment</a:t>
            </a:r>
            <a:r>
              <a:rPr dirty="0" sz="13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timelines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841498" y="3336035"/>
            <a:ext cx="2104390" cy="1760220"/>
            <a:chOff x="2841498" y="3336035"/>
            <a:chExt cx="2104390" cy="1760220"/>
          </a:xfrm>
        </p:grpSpPr>
        <p:sp>
          <p:nvSpPr>
            <p:cNvPr id="12" name="object 12" descr=""/>
            <p:cNvSpPr/>
            <p:nvPr/>
          </p:nvSpPr>
          <p:spPr>
            <a:xfrm>
              <a:off x="2849880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1889785" y="0"/>
                  </a:moveTo>
                  <a:lnTo>
                    <a:pt x="197332" y="0"/>
                  </a:lnTo>
                  <a:lnTo>
                    <a:pt x="187638" y="236"/>
                  </a:lnTo>
                  <a:lnTo>
                    <a:pt x="149375" y="5914"/>
                  </a:lnTo>
                  <a:lnTo>
                    <a:pt x="112950" y="18950"/>
                  </a:lnTo>
                  <a:lnTo>
                    <a:pt x="79768" y="38839"/>
                  </a:lnTo>
                  <a:lnTo>
                    <a:pt x="51113" y="64817"/>
                  </a:lnTo>
                  <a:lnTo>
                    <a:pt x="28070" y="95895"/>
                  </a:lnTo>
                  <a:lnTo>
                    <a:pt x="11530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1546123"/>
                  </a:lnTo>
                  <a:lnTo>
                    <a:pt x="3784" y="1584617"/>
                  </a:lnTo>
                  <a:lnTo>
                    <a:pt x="15024" y="1621637"/>
                  </a:lnTo>
                  <a:lnTo>
                    <a:pt x="33261" y="1655749"/>
                  </a:lnTo>
                  <a:lnTo>
                    <a:pt x="57797" y="1685658"/>
                  </a:lnTo>
                  <a:lnTo>
                    <a:pt x="87693" y="1710194"/>
                  </a:lnTo>
                  <a:lnTo>
                    <a:pt x="121818" y="1728431"/>
                  </a:lnTo>
                  <a:lnTo>
                    <a:pt x="158838" y="1739658"/>
                  </a:lnTo>
                  <a:lnTo>
                    <a:pt x="197332" y="1743456"/>
                  </a:lnTo>
                  <a:lnTo>
                    <a:pt x="1889785" y="1743456"/>
                  </a:lnTo>
                  <a:lnTo>
                    <a:pt x="1928279" y="1739658"/>
                  </a:lnTo>
                  <a:lnTo>
                    <a:pt x="1965299" y="1728431"/>
                  </a:lnTo>
                  <a:lnTo>
                    <a:pt x="1999411" y="1710194"/>
                  </a:lnTo>
                  <a:lnTo>
                    <a:pt x="2029320" y="1685658"/>
                  </a:lnTo>
                  <a:lnTo>
                    <a:pt x="2053856" y="1655749"/>
                  </a:lnTo>
                  <a:lnTo>
                    <a:pt x="2072093" y="1621637"/>
                  </a:lnTo>
                  <a:lnTo>
                    <a:pt x="2083320" y="1584617"/>
                  </a:lnTo>
                  <a:lnTo>
                    <a:pt x="2087118" y="1546123"/>
                  </a:lnTo>
                  <a:lnTo>
                    <a:pt x="2087118" y="197332"/>
                  </a:lnTo>
                  <a:lnTo>
                    <a:pt x="2083320" y="158838"/>
                  </a:lnTo>
                  <a:lnTo>
                    <a:pt x="2072093" y="121818"/>
                  </a:lnTo>
                  <a:lnTo>
                    <a:pt x="2053856" y="87706"/>
                  </a:lnTo>
                  <a:lnTo>
                    <a:pt x="2029320" y="57797"/>
                  </a:lnTo>
                  <a:lnTo>
                    <a:pt x="1999411" y="33261"/>
                  </a:lnTo>
                  <a:lnTo>
                    <a:pt x="1965299" y="15024"/>
                  </a:lnTo>
                  <a:lnTo>
                    <a:pt x="1928279" y="3797"/>
                  </a:lnTo>
                  <a:lnTo>
                    <a:pt x="1889785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49880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0" y="1546123"/>
                  </a:moveTo>
                  <a:lnTo>
                    <a:pt x="0" y="197332"/>
                  </a:lnTo>
                  <a:lnTo>
                    <a:pt x="237" y="187640"/>
                  </a:lnTo>
                  <a:lnTo>
                    <a:pt x="5914" y="149375"/>
                  </a:lnTo>
                  <a:lnTo>
                    <a:pt x="18950" y="112950"/>
                  </a:lnTo>
                  <a:lnTo>
                    <a:pt x="38845" y="79771"/>
                  </a:lnTo>
                  <a:lnTo>
                    <a:pt x="64822" y="51111"/>
                  </a:lnTo>
                  <a:lnTo>
                    <a:pt x="95890" y="28070"/>
                  </a:lnTo>
                  <a:lnTo>
                    <a:pt x="130867" y="11528"/>
                  </a:lnTo>
                  <a:lnTo>
                    <a:pt x="168389" y="2132"/>
                  </a:lnTo>
                  <a:lnTo>
                    <a:pt x="197332" y="0"/>
                  </a:lnTo>
                  <a:lnTo>
                    <a:pt x="1889785" y="0"/>
                  </a:lnTo>
                  <a:lnTo>
                    <a:pt x="1928279" y="3797"/>
                  </a:lnTo>
                  <a:lnTo>
                    <a:pt x="1965299" y="15024"/>
                  </a:lnTo>
                  <a:lnTo>
                    <a:pt x="1999411" y="33261"/>
                  </a:lnTo>
                  <a:lnTo>
                    <a:pt x="2029320" y="57797"/>
                  </a:lnTo>
                  <a:lnTo>
                    <a:pt x="2053856" y="87706"/>
                  </a:lnTo>
                  <a:lnTo>
                    <a:pt x="2072093" y="121818"/>
                  </a:lnTo>
                  <a:lnTo>
                    <a:pt x="2083320" y="158838"/>
                  </a:lnTo>
                  <a:lnTo>
                    <a:pt x="2087118" y="197332"/>
                  </a:lnTo>
                  <a:lnTo>
                    <a:pt x="2087118" y="1546123"/>
                  </a:lnTo>
                  <a:lnTo>
                    <a:pt x="2083320" y="1584617"/>
                  </a:lnTo>
                  <a:lnTo>
                    <a:pt x="2072093" y="1621637"/>
                  </a:lnTo>
                  <a:lnTo>
                    <a:pt x="2053856" y="1655749"/>
                  </a:lnTo>
                  <a:lnTo>
                    <a:pt x="2029320" y="1685658"/>
                  </a:lnTo>
                  <a:lnTo>
                    <a:pt x="1999411" y="1710194"/>
                  </a:lnTo>
                  <a:lnTo>
                    <a:pt x="1965299" y="1728431"/>
                  </a:lnTo>
                  <a:lnTo>
                    <a:pt x="1928279" y="1739658"/>
                  </a:lnTo>
                  <a:lnTo>
                    <a:pt x="1889785" y="1743456"/>
                  </a:lnTo>
                  <a:lnTo>
                    <a:pt x="197332" y="1743456"/>
                  </a:lnTo>
                  <a:lnTo>
                    <a:pt x="158838" y="1739658"/>
                  </a:lnTo>
                  <a:lnTo>
                    <a:pt x="121818" y="1728431"/>
                  </a:lnTo>
                  <a:lnTo>
                    <a:pt x="87693" y="1710194"/>
                  </a:lnTo>
                  <a:lnTo>
                    <a:pt x="57797" y="1685658"/>
                  </a:lnTo>
                  <a:lnTo>
                    <a:pt x="33261" y="1655749"/>
                  </a:lnTo>
                  <a:lnTo>
                    <a:pt x="15024" y="1621637"/>
                  </a:lnTo>
                  <a:lnTo>
                    <a:pt x="3784" y="1584617"/>
                  </a:lnTo>
                  <a:lnTo>
                    <a:pt x="0" y="1546123"/>
                  </a:lnTo>
                  <a:close/>
                </a:path>
              </a:pathLst>
            </a:custGeom>
            <a:ln w="16764">
              <a:solidFill>
                <a:srgbClr val="D741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012287" y="3490221"/>
            <a:ext cx="1577340" cy="137541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495300">
              <a:lnSpc>
                <a:spcPct val="106300"/>
              </a:lnSpc>
              <a:spcBef>
                <a:spcPts val="10"/>
              </a:spcBef>
            </a:pPr>
            <a:r>
              <a:rPr dirty="0" sz="1500" spc="-15" b="1">
                <a:solidFill>
                  <a:srgbClr val="FFFFFF"/>
                </a:solidFill>
                <a:latin typeface="Trebuchet MS"/>
                <a:cs typeface="Trebuchet MS"/>
              </a:rPr>
              <a:t>Inconsistent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endParaRPr sz="1500">
              <a:latin typeface="Trebuchet MS"/>
              <a:cs typeface="Trebuchet MS"/>
            </a:endParaRPr>
          </a:p>
          <a:p>
            <a:pPr algn="just" marL="12700" marR="5080">
              <a:lnSpc>
                <a:spcPct val="133300"/>
              </a:lnSpc>
              <a:spcBef>
                <a:spcPts val="650"/>
              </a:spcBef>
            </a:pPr>
            <a:r>
              <a:rPr dirty="0" sz="1300" spc="-165">
                <a:solidFill>
                  <a:srgbClr val="FFFFFF"/>
                </a:solidFill>
                <a:latin typeface="Verdana"/>
                <a:cs typeface="Verdana"/>
              </a:rPr>
              <a:t>Review</a:t>
            </a:r>
            <a:r>
              <a:rPr dirty="0" sz="130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standards</a:t>
            </a:r>
            <a:r>
              <a:rPr dirty="0" sz="1300" spc="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vary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dirty="0" sz="1300" spc="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95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dirty="0" sz="1300" spc="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members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expertise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levels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113020" y="3336035"/>
            <a:ext cx="2104390" cy="1760220"/>
            <a:chOff x="5113020" y="3336035"/>
            <a:chExt cx="2104390" cy="1760220"/>
          </a:xfrm>
        </p:grpSpPr>
        <p:sp>
          <p:nvSpPr>
            <p:cNvPr id="16" name="object 16" descr=""/>
            <p:cNvSpPr/>
            <p:nvPr/>
          </p:nvSpPr>
          <p:spPr>
            <a:xfrm>
              <a:off x="5121402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1889785" y="0"/>
                  </a:moveTo>
                  <a:lnTo>
                    <a:pt x="197332" y="0"/>
                  </a:lnTo>
                  <a:lnTo>
                    <a:pt x="187640" y="236"/>
                  </a:lnTo>
                  <a:lnTo>
                    <a:pt x="149375" y="5914"/>
                  </a:lnTo>
                  <a:lnTo>
                    <a:pt x="112950" y="18950"/>
                  </a:lnTo>
                  <a:lnTo>
                    <a:pt x="79771" y="38839"/>
                  </a:lnTo>
                  <a:lnTo>
                    <a:pt x="51106" y="64817"/>
                  </a:lnTo>
                  <a:lnTo>
                    <a:pt x="28070" y="95895"/>
                  </a:lnTo>
                  <a:lnTo>
                    <a:pt x="11528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1546123"/>
                  </a:lnTo>
                  <a:lnTo>
                    <a:pt x="3797" y="1584617"/>
                  </a:lnTo>
                  <a:lnTo>
                    <a:pt x="15024" y="1621637"/>
                  </a:lnTo>
                  <a:lnTo>
                    <a:pt x="33261" y="1655749"/>
                  </a:lnTo>
                  <a:lnTo>
                    <a:pt x="57797" y="1685658"/>
                  </a:lnTo>
                  <a:lnTo>
                    <a:pt x="87706" y="1710194"/>
                  </a:lnTo>
                  <a:lnTo>
                    <a:pt x="121818" y="1728431"/>
                  </a:lnTo>
                  <a:lnTo>
                    <a:pt x="158838" y="1739658"/>
                  </a:lnTo>
                  <a:lnTo>
                    <a:pt x="197332" y="1743456"/>
                  </a:lnTo>
                  <a:lnTo>
                    <a:pt x="1889785" y="1743456"/>
                  </a:lnTo>
                  <a:lnTo>
                    <a:pt x="1928279" y="1739658"/>
                  </a:lnTo>
                  <a:lnTo>
                    <a:pt x="1965299" y="1728431"/>
                  </a:lnTo>
                  <a:lnTo>
                    <a:pt x="1999411" y="1710194"/>
                  </a:lnTo>
                  <a:lnTo>
                    <a:pt x="2029320" y="1685658"/>
                  </a:lnTo>
                  <a:lnTo>
                    <a:pt x="2053856" y="1655749"/>
                  </a:lnTo>
                  <a:lnTo>
                    <a:pt x="2072093" y="1621637"/>
                  </a:lnTo>
                  <a:lnTo>
                    <a:pt x="2083333" y="1584617"/>
                  </a:lnTo>
                  <a:lnTo>
                    <a:pt x="2087118" y="1546123"/>
                  </a:lnTo>
                  <a:lnTo>
                    <a:pt x="2087118" y="197332"/>
                  </a:lnTo>
                  <a:lnTo>
                    <a:pt x="2083333" y="158838"/>
                  </a:lnTo>
                  <a:lnTo>
                    <a:pt x="2072093" y="121818"/>
                  </a:lnTo>
                  <a:lnTo>
                    <a:pt x="2053856" y="87706"/>
                  </a:lnTo>
                  <a:lnTo>
                    <a:pt x="2029320" y="57797"/>
                  </a:lnTo>
                  <a:lnTo>
                    <a:pt x="1999411" y="33261"/>
                  </a:lnTo>
                  <a:lnTo>
                    <a:pt x="1965299" y="15024"/>
                  </a:lnTo>
                  <a:lnTo>
                    <a:pt x="1928279" y="3797"/>
                  </a:lnTo>
                  <a:lnTo>
                    <a:pt x="1889785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121402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0" y="1546123"/>
                  </a:moveTo>
                  <a:lnTo>
                    <a:pt x="0" y="197332"/>
                  </a:lnTo>
                  <a:lnTo>
                    <a:pt x="236" y="187640"/>
                  </a:lnTo>
                  <a:lnTo>
                    <a:pt x="5914" y="149375"/>
                  </a:lnTo>
                  <a:lnTo>
                    <a:pt x="18950" y="112950"/>
                  </a:lnTo>
                  <a:lnTo>
                    <a:pt x="38838" y="79771"/>
                  </a:lnTo>
                  <a:lnTo>
                    <a:pt x="64817" y="51111"/>
                  </a:lnTo>
                  <a:lnTo>
                    <a:pt x="95895" y="28070"/>
                  </a:lnTo>
                  <a:lnTo>
                    <a:pt x="130867" y="11528"/>
                  </a:lnTo>
                  <a:lnTo>
                    <a:pt x="168395" y="2132"/>
                  </a:lnTo>
                  <a:lnTo>
                    <a:pt x="197332" y="0"/>
                  </a:lnTo>
                  <a:lnTo>
                    <a:pt x="1889785" y="0"/>
                  </a:lnTo>
                  <a:lnTo>
                    <a:pt x="1928279" y="3797"/>
                  </a:lnTo>
                  <a:lnTo>
                    <a:pt x="1965299" y="15024"/>
                  </a:lnTo>
                  <a:lnTo>
                    <a:pt x="1999411" y="33261"/>
                  </a:lnTo>
                  <a:lnTo>
                    <a:pt x="2029320" y="57797"/>
                  </a:lnTo>
                  <a:lnTo>
                    <a:pt x="2053856" y="87706"/>
                  </a:lnTo>
                  <a:lnTo>
                    <a:pt x="2072093" y="121818"/>
                  </a:lnTo>
                  <a:lnTo>
                    <a:pt x="2083333" y="158838"/>
                  </a:lnTo>
                  <a:lnTo>
                    <a:pt x="2087118" y="197332"/>
                  </a:lnTo>
                  <a:lnTo>
                    <a:pt x="2087118" y="1546123"/>
                  </a:lnTo>
                  <a:lnTo>
                    <a:pt x="2083333" y="1584617"/>
                  </a:lnTo>
                  <a:lnTo>
                    <a:pt x="2072093" y="1621637"/>
                  </a:lnTo>
                  <a:lnTo>
                    <a:pt x="2053856" y="1655749"/>
                  </a:lnTo>
                  <a:lnTo>
                    <a:pt x="2029320" y="1685658"/>
                  </a:lnTo>
                  <a:lnTo>
                    <a:pt x="1999411" y="1710194"/>
                  </a:lnTo>
                  <a:lnTo>
                    <a:pt x="1965299" y="1728431"/>
                  </a:lnTo>
                  <a:lnTo>
                    <a:pt x="1928279" y="1739658"/>
                  </a:lnTo>
                  <a:lnTo>
                    <a:pt x="1889785" y="1743456"/>
                  </a:lnTo>
                  <a:lnTo>
                    <a:pt x="197332" y="1743456"/>
                  </a:lnTo>
                  <a:lnTo>
                    <a:pt x="158838" y="1739658"/>
                  </a:lnTo>
                  <a:lnTo>
                    <a:pt x="121818" y="1728431"/>
                  </a:lnTo>
                  <a:lnTo>
                    <a:pt x="87706" y="1710194"/>
                  </a:lnTo>
                  <a:lnTo>
                    <a:pt x="57797" y="1685658"/>
                  </a:lnTo>
                  <a:lnTo>
                    <a:pt x="33261" y="1655749"/>
                  </a:lnTo>
                  <a:lnTo>
                    <a:pt x="15024" y="1621637"/>
                  </a:lnTo>
                  <a:lnTo>
                    <a:pt x="3797" y="1584617"/>
                  </a:lnTo>
                  <a:lnTo>
                    <a:pt x="0" y="1546123"/>
                  </a:lnTo>
                  <a:close/>
                </a:path>
              </a:pathLst>
            </a:custGeom>
            <a:ln w="16764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280012" y="3490221"/>
            <a:ext cx="1710689" cy="137541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89280">
              <a:lnSpc>
                <a:spcPct val="106300"/>
              </a:lnSpc>
              <a:spcBef>
                <a:spcPts val="10"/>
              </a:spcBef>
            </a:pP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Expertise Dependency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3300"/>
              </a:lnSpc>
              <a:spcBef>
                <a:spcPts val="650"/>
              </a:spcBef>
            </a:pP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Quality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depends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heavily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reviewer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knowledge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availability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376159" y="3336035"/>
            <a:ext cx="2104390" cy="1760220"/>
            <a:chOff x="7376159" y="3336035"/>
            <a:chExt cx="2104390" cy="1760220"/>
          </a:xfrm>
        </p:grpSpPr>
        <p:sp>
          <p:nvSpPr>
            <p:cNvPr id="20" name="object 20" descr=""/>
            <p:cNvSpPr/>
            <p:nvPr/>
          </p:nvSpPr>
          <p:spPr>
            <a:xfrm>
              <a:off x="7384541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1889785" y="0"/>
                  </a:moveTo>
                  <a:lnTo>
                    <a:pt x="197332" y="0"/>
                  </a:lnTo>
                  <a:lnTo>
                    <a:pt x="187640" y="236"/>
                  </a:lnTo>
                  <a:lnTo>
                    <a:pt x="149375" y="5914"/>
                  </a:lnTo>
                  <a:lnTo>
                    <a:pt x="112950" y="18950"/>
                  </a:lnTo>
                  <a:lnTo>
                    <a:pt x="79771" y="38839"/>
                  </a:lnTo>
                  <a:lnTo>
                    <a:pt x="51106" y="64817"/>
                  </a:lnTo>
                  <a:lnTo>
                    <a:pt x="28070" y="95895"/>
                  </a:lnTo>
                  <a:lnTo>
                    <a:pt x="11528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1546123"/>
                  </a:lnTo>
                  <a:lnTo>
                    <a:pt x="3797" y="1584617"/>
                  </a:lnTo>
                  <a:lnTo>
                    <a:pt x="15024" y="1621637"/>
                  </a:lnTo>
                  <a:lnTo>
                    <a:pt x="33261" y="1655749"/>
                  </a:lnTo>
                  <a:lnTo>
                    <a:pt x="57797" y="1685658"/>
                  </a:lnTo>
                  <a:lnTo>
                    <a:pt x="87706" y="1710194"/>
                  </a:lnTo>
                  <a:lnTo>
                    <a:pt x="121818" y="1728431"/>
                  </a:lnTo>
                  <a:lnTo>
                    <a:pt x="158838" y="1739658"/>
                  </a:lnTo>
                  <a:lnTo>
                    <a:pt x="197332" y="1743456"/>
                  </a:lnTo>
                  <a:lnTo>
                    <a:pt x="1889785" y="1743456"/>
                  </a:lnTo>
                  <a:lnTo>
                    <a:pt x="1928279" y="1739658"/>
                  </a:lnTo>
                  <a:lnTo>
                    <a:pt x="1965299" y="1728431"/>
                  </a:lnTo>
                  <a:lnTo>
                    <a:pt x="1999411" y="1710194"/>
                  </a:lnTo>
                  <a:lnTo>
                    <a:pt x="2029320" y="1685658"/>
                  </a:lnTo>
                  <a:lnTo>
                    <a:pt x="2053856" y="1655749"/>
                  </a:lnTo>
                  <a:lnTo>
                    <a:pt x="2072093" y="1621637"/>
                  </a:lnTo>
                  <a:lnTo>
                    <a:pt x="2083320" y="1584617"/>
                  </a:lnTo>
                  <a:lnTo>
                    <a:pt x="2087118" y="1546123"/>
                  </a:lnTo>
                  <a:lnTo>
                    <a:pt x="2087118" y="197332"/>
                  </a:lnTo>
                  <a:lnTo>
                    <a:pt x="2083320" y="158838"/>
                  </a:lnTo>
                  <a:lnTo>
                    <a:pt x="2072093" y="121818"/>
                  </a:lnTo>
                  <a:lnTo>
                    <a:pt x="2053856" y="87706"/>
                  </a:lnTo>
                  <a:lnTo>
                    <a:pt x="2029320" y="57797"/>
                  </a:lnTo>
                  <a:lnTo>
                    <a:pt x="1999411" y="33261"/>
                  </a:lnTo>
                  <a:lnTo>
                    <a:pt x="1965299" y="15024"/>
                  </a:lnTo>
                  <a:lnTo>
                    <a:pt x="1928279" y="3797"/>
                  </a:lnTo>
                  <a:lnTo>
                    <a:pt x="1889785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84541" y="3344417"/>
              <a:ext cx="2087245" cy="1743710"/>
            </a:xfrm>
            <a:custGeom>
              <a:avLst/>
              <a:gdLst/>
              <a:ahLst/>
              <a:cxnLst/>
              <a:rect l="l" t="t" r="r" b="b"/>
              <a:pathLst>
                <a:path w="2087245" h="1743710">
                  <a:moveTo>
                    <a:pt x="0" y="1546123"/>
                  </a:moveTo>
                  <a:lnTo>
                    <a:pt x="0" y="197332"/>
                  </a:lnTo>
                  <a:lnTo>
                    <a:pt x="236" y="187640"/>
                  </a:lnTo>
                  <a:lnTo>
                    <a:pt x="5914" y="149375"/>
                  </a:lnTo>
                  <a:lnTo>
                    <a:pt x="18950" y="112950"/>
                  </a:lnTo>
                  <a:lnTo>
                    <a:pt x="38838" y="79771"/>
                  </a:lnTo>
                  <a:lnTo>
                    <a:pt x="64817" y="51111"/>
                  </a:lnTo>
                  <a:lnTo>
                    <a:pt x="95895" y="28070"/>
                  </a:lnTo>
                  <a:lnTo>
                    <a:pt x="130867" y="11528"/>
                  </a:lnTo>
                  <a:lnTo>
                    <a:pt x="168395" y="2132"/>
                  </a:lnTo>
                  <a:lnTo>
                    <a:pt x="197332" y="0"/>
                  </a:lnTo>
                  <a:lnTo>
                    <a:pt x="1889785" y="0"/>
                  </a:lnTo>
                  <a:lnTo>
                    <a:pt x="1928279" y="3797"/>
                  </a:lnTo>
                  <a:lnTo>
                    <a:pt x="1965299" y="15024"/>
                  </a:lnTo>
                  <a:lnTo>
                    <a:pt x="1999411" y="33261"/>
                  </a:lnTo>
                  <a:lnTo>
                    <a:pt x="2029320" y="57797"/>
                  </a:lnTo>
                  <a:lnTo>
                    <a:pt x="2053856" y="87706"/>
                  </a:lnTo>
                  <a:lnTo>
                    <a:pt x="2072093" y="121818"/>
                  </a:lnTo>
                  <a:lnTo>
                    <a:pt x="2083320" y="158838"/>
                  </a:lnTo>
                  <a:lnTo>
                    <a:pt x="2087118" y="197332"/>
                  </a:lnTo>
                  <a:lnTo>
                    <a:pt x="2087118" y="1546123"/>
                  </a:lnTo>
                  <a:lnTo>
                    <a:pt x="2083320" y="1584617"/>
                  </a:lnTo>
                  <a:lnTo>
                    <a:pt x="2072093" y="1621637"/>
                  </a:lnTo>
                  <a:lnTo>
                    <a:pt x="2053856" y="1655749"/>
                  </a:lnTo>
                  <a:lnTo>
                    <a:pt x="2029320" y="1685658"/>
                  </a:lnTo>
                  <a:lnTo>
                    <a:pt x="1999411" y="1710194"/>
                  </a:lnTo>
                  <a:lnTo>
                    <a:pt x="1965299" y="1728431"/>
                  </a:lnTo>
                  <a:lnTo>
                    <a:pt x="1928279" y="1739658"/>
                  </a:lnTo>
                  <a:lnTo>
                    <a:pt x="1889785" y="1743456"/>
                  </a:lnTo>
                  <a:lnTo>
                    <a:pt x="197332" y="1743456"/>
                  </a:lnTo>
                  <a:lnTo>
                    <a:pt x="158838" y="1739658"/>
                  </a:lnTo>
                  <a:lnTo>
                    <a:pt x="121818" y="1728431"/>
                  </a:lnTo>
                  <a:lnTo>
                    <a:pt x="87706" y="1710194"/>
                  </a:lnTo>
                  <a:lnTo>
                    <a:pt x="57797" y="1685658"/>
                  </a:lnTo>
                  <a:lnTo>
                    <a:pt x="33261" y="1655749"/>
                  </a:lnTo>
                  <a:lnTo>
                    <a:pt x="15024" y="1621637"/>
                  </a:lnTo>
                  <a:lnTo>
                    <a:pt x="3797" y="1584617"/>
                  </a:lnTo>
                  <a:lnTo>
                    <a:pt x="0" y="1546123"/>
                  </a:lnTo>
                  <a:close/>
                </a:path>
              </a:pathLst>
            </a:custGeom>
            <a:ln w="16764">
              <a:solidFill>
                <a:srgbClr val="48A7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547356" y="3490221"/>
            <a:ext cx="1730375" cy="1400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40" b="1">
                <a:solidFill>
                  <a:srgbClr val="FFFFFF"/>
                </a:solidFill>
                <a:latin typeface="Trebuchet MS"/>
                <a:cs typeface="Trebuchet MS"/>
              </a:rPr>
              <a:t>Technical</a:t>
            </a:r>
            <a:r>
              <a:rPr dirty="0" sz="1500" spc="-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Trebuchet MS"/>
                <a:cs typeface="Trebuchet MS"/>
              </a:rPr>
              <a:t>Debt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4000"/>
              </a:lnSpc>
              <a:spcBef>
                <a:spcPts val="645"/>
              </a:spcBef>
            </a:pP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accumulate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when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reviews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miss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patterns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FFFFFF"/>
                </a:solidFill>
                <a:latin typeface="Verdana"/>
                <a:cs typeface="Verdana"/>
              </a:rPr>
              <a:t>architectural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concerns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63314" y="5296206"/>
            <a:ext cx="695388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Modern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development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demands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automated,</a:t>
            </a:r>
            <a:r>
              <a:rPr dirty="0" sz="13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intelligent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review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systems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scale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team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FFFFFF"/>
                </a:solidFill>
                <a:latin typeface="Verdana"/>
                <a:cs typeface="Verdana"/>
              </a:rPr>
              <a:t>growth.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355" y="1072895"/>
            <a:ext cx="997585" cy="310515"/>
            <a:chOff x="578355" y="1072895"/>
            <a:chExt cx="997585" cy="310515"/>
          </a:xfrm>
        </p:grpSpPr>
        <p:sp>
          <p:nvSpPr>
            <p:cNvPr id="3" name="object 3" descr=""/>
            <p:cNvSpPr/>
            <p:nvPr/>
          </p:nvSpPr>
          <p:spPr>
            <a:xfrm>
              <a:off x="578355" y="107289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5">
                  <a:moveTo>
                    <a:pt x="842393" y="0"/>
                  </a:moveTo>
                  <a:lnTo>
                    <a:pt x="155069" y="0"/>
                  </a:lnTo>
                  <a:lnTo>
                    <a:pt x="147452" y="185"/>
                  </a:lnTo>
                  <a:lnTo>
                    <a:pt x="102835" y="9060"/>
                  </a:lnTo>
                  <a:lnTo>
                    <a:pt x="62688" y="30520"/>
                  </a:lnTo>
                  <a:lnTo>
                    <a:pt x="30521" y="62683"/>
                  </a:lnTo>
                  <a:lnTo>
                    <a:pt x="9062" y="102836"/>
                  </a:lnTo>
                  <a:lnTo>
                    <a:pt x="186" y="147447"/>
                  </a:lnTo>
                  <a:lnTo>
                    <a:pt x="0" y="155067"/>
                  </a:lnTo>
                  <a:lnTo>
                    <a:pt x="186" y="162687"/>
                  </a:lnTo>
                  <a:lnTo>
                    <a:pt x="9062" y="207296"/>
                  </a:lnTo>
                  <a:lnTo>
                    <a:pt x="30521" y="247445"/>
                  </a:lnTo>
                  <a:lnTo>
                    <a:pt x="62688" y="279613"/>
                  </a:lnTo>
                  <a:lnTo>
                    <a:pt x="102835" y="301073"/>
                  </a:lnTo>
                  <a:lnTo>
                    <a:pt x="147452" y="309948"/>
                  </a:lnTo>
                  <a:lnTo>
                    <a:pt x="155069" y="310134"/>
                  </a:lnTo>
                  <a:lnTo>
                    <a:pt x="842393" y="310134"/>
                  </a:lnTo>
                  <a:lnTo>
                    <a:pt x="887407" y="303456"/>
                  </a:lnTo>
                  <a:lnTo>
                    <a:pt x="928550" y="283997"/>
                  </a:lnTo>
                  <a:lnTo>
                    <a:pt x="962265" y="253441"/>
                  </a:lnTo>
                  <a:lnTo>
                    <a:pt x="985649" y="214401"/>
                  </a:lnTo>
                  <a:lnTo>
                    <a:pt x="996716" y="170268"/>
                  </a:lnTo>
                  <a:lnTo>
                    <a:pt x="997460" y="155067"/>
                  </a:lnTo>
                  <a:lnTo>
                    <a:pt x="997274" y="147447"/>
                  </a:lnTo>
                  <a:lnTo>
                    <a:pt x="988394" y="102836"/>
                  </a:lnTo>
                  <a:lnTo>
                    <a:pt x="966940" y="62683"/>
                  </a:lnTo>
                  <a:lnTo>
                    <a:pt x="934777" y="30520"/>
                  </a:lnTo>
                  <a:lnTo>
                    <a:pt x="894628" y="9060"/>
                  </a:lnTo>
                  <a:lnTo>
                    <a:pt x="850013" y="185"/>
                  </a:lnTo>
                  <a:lnTo>
                    <a:pt x="842393" y="0"/>
                  </a:lnTo>
                  <a:close/>
                </a:path>
              </a:pathLst>
            </a:custGeom>
            <a:solidFill>
              <a:srgbClr val="4832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472" y="1153799"/>
              <a:ext cx="97852" cy="137480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59288" y="1129766"/>
            <a:ext cx="62865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75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Hybrid</a:t>
            </a:r>
            <a:r>
              <a:rPr dirty="0" spc="-60"/>
              <a:t> </a:t>
            </a:r>
            <a:r>
              <a:rPr dirty="0" spc="120"/>
              <a:t>AI-</a:t>
            </a:r>
            <a:r>
              <a:rPr dirty="0"/>
              <a:t>Assisted</a:t>
            </a:r>
            <a:r>
              <a:rPr dirty="0" spc="-55"/>
              <a:t> </a:t>
            </a:r>
            <a:r>
              <a:rPr dirty="0"/>
              <a:t>Code</a:t>
            </a:r>
            <a:r>
              <a:rPr dirty="0" spc="-60"/>
              <a:t> </a:t>
            </a:r>
            <a:r>
              <a:rPr dirty="0" spc="-10"/>
              <a:t>Review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3299" y="2501282"/>
            <a:ext cx="5497830" cy="123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5270">
              <a:lnSpc>
                <a:spcPct val="135400"/>
              </a:lnSpc>
              <a:spcBef>
                <a:spcPts val="100"/>
              </a:spcBef>
            </a:pP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sophisticated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review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tool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combines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deterministic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intelligent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reasoning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deliver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comprehensive,</a:t>
            </a:r>
            <a:r>
              <a:rPr dirty="0" sz="130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feedback.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31200"/>
              </a:lnSpc>
              <a:spcBef>
                <a:spcPts val="1185"/>
              </a:spcBef>
            </a:pP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Available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CLI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interactive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Streamlit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web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interface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flexible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integration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existing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workflows.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8544" y="2363723"/>
            <a:ext cx="2849879" cy="159257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46799" y="4307131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01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78355" y="4584955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F2B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63299" y="4672083"/>
            <a:ext cx="2415540" cy="612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85" b="1">
                <a:solidFill>
                  <a:srgbClr val="FFFFFF"/>
                </a:solidFill>
                <a:latin typeface="Trebuchet MS"/>
                <a:cs typeface="Trebuchet MS"/>
              </a:rPr>
              <a:t>AST-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1500" spc="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Parsing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Structural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82251" y="4307132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113020" y="4584955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D741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098745" y="4672083"/>
            <a:ext cx="2025650" cy="612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Rule</a:t>
            </a:r>
            <a:r>
              <a:rPr dirty="0" sz="15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Engine</a:t>
            </a:r>
            <a:r>
              <a:rPr dirty="0" sz="15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Deterministic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quality 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checks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46798" y="5572812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78355" y="5859019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DD7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63299" y="5946147"/>
            <a:ext cx="1922145" cy="6038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65" b="1">
                <a:solidFill>
                  <a:srgbClr val="FFFFFF"/>
                </a:solidFill>
                <a:latin typeface="Trebuchet MS"/>
                <a:cs typeface="Trebuchet MS"/>
              </a:rPr>
              <a:t>LLM</a:t>
            </a:r>
            <a:r>
              <a:rPr dirty="0" sz="15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Reasoning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Context-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aware</a:t>
            </a:r>
            <a:r>
              <a:rPr dirty="0" sz="13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suggestions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82251" y="5572812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113020" y="5859019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48A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098745" y="5946147"/>
            <a:ext cx="2346960" cy="6038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25" b="1">
                <a:solidFill>
                  <a:srgbClr val="FFFFFF"/>
                </a:solidFill>
                <a:latin typeface="Trebuchet MS"/>
                <a:cs typeface="Trebuchet MS"/>
              </a:rPr>
              <a:t>Structured</a:t>
            </a:r>
            <a:r>
              <a:rPr dirty="0" sz="15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Reports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Severity-based</a:t>
            </a:r>
            <a:r>
              <a:rPr dirty="0" sz="13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output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355" y="1659635"/>
            <a:ext cx="1266190" cy="310515"/>
            <a:chOff x="578355" y="1659635"/>
            <a:chExt cx="1266190" cy="310515"/>
          </a:xfrm>
        </p:grpSpPr>
        <p:sp>
          <p:nvSpPr>
            <p:cNvPr id="3" name="object 3" descr=""/>
            <p:cNvSpPr/>
            <p:nvPr/>
          </p:nvSpPr>
          <p:spPr>
            <a:xfrm>
              <a:off x="578355" y="1659635"/>
              <a:ext cx="1266190" cy="310515"/>
            </a:xfrm>
            <a:custGeom>
              <a:avLst/>
              <a:gdLst/>
              <a:ahLst/>
              <a:cxnLst/>
              <a:rect l="l" t="t" r="r" b="b"/>
              <a:pathLst>
                <a:path w="1266189" h="310514">
                  <a:moveTo>
                    <a:pt x="1110617" y="0"/>
                  </a:moveTo>
                  <a:lnTo>
                    <a:pt x="155069" y="0"/>
                  </a:lnTo>
                  <a:lnTo>
                    <a:pt x="147452" y="185"/>
                  </a:lnTo>
                  <a:lnTo>
                    <a:pt x="102835" y="9060"/>
                  </a:lnTo>
                  <a:lnTo>
                    <a:pt x="62688" y="30515"/>
                  </a:lnTo>
                  <a:lnTo>
                    <a:pt x="30521" y="62683"/>
                  </a:lnTo>
                  <a:lnTo>
                    <a:pt x="9062" y="102830"/>
                  </a:lnTo>
                  <a:lnTo>
                    <a:pt x="186" y="147447"/>
                  </a:lnTo>
                  <a:lnTo>
                    <a:pt x="0" y="155067"/>
                  </a:lnTo>
                  <a:lnTo>
                    <a:pt x="186" y="162687"/>
                  </a:lnTo>
                  <a:lnTo>
                    <a:pt x="9062" y="207296"/>
                  </a:lnTo>
                  <a:lnTo>
                    <a:pt x="30521" y="247445"/>
                  </a:lnTo>
                  <a:lnTo>
                    <a:pt x="62688" y="279613"/>
                  </a:lnTo>
                  <a:lnTo>
                    <a:pt x="102835" y="301073"/>
                  </a:lnTo>
                  <a:lnTo>
                    <a:pt x="147452" y="309948"/>
                  </a:lnTo>
                  <a:lnTo>
                    <a:pt x="155069" y="310134"/>
                  </a:lnTo>
                  <a:lnTo>
                    <a:pt x="1110617" y="310134"/>
                  </a:lnTo>
                  <a:lnTo>
                    <a:pt x="1155631" y="303456"/>
                  </a:lnTo>
                  <a:lnTo>
                    <a:pt x="1196761" y="283997"/>
                  </a:lnTo>
                  <a:lnTo>
                    <a:pt x="1230489" y="253441"/>
                  </a:lnTo>
                  <a:lnTo>
                    <a:pt x="1253886" y="214401"/>
                  </a:lnTo>
                  <a:lnTo>
                    <a:pt x="1264940" y="170268"/>
                  </a:lnTo>
                  <a:lnTo>
                    <a:pt x="1265684" y="155067"/>
                  </a:lnTo>
                  <a:lnTo>
                    <a:pt x="1265498" y="147447"/>
                  </a:lnTo>
                  <a:lnTo>
                    <a:pt x="1256624" y="102830"/>
                  </a:lnTo>
                  <a:lnTo>
                    <a:pt x="1235164" y="62683"/>
                  </a:lnTo>
                  <a:lnTo>
                    <a:pt x="1202995" y="30520"/>
                  </a:lnTo>
                  <a:lnTo>
                    <a:pt x="1162852" y="9060"/>
                  </a:lnTo>
                  <a:lnTo>
                    <a:pt x="1118237" y="185"/>
                  </a:lnTo>
                  <a:lnTo>
                    <a:pt x="1110617" y="0"/>
                  </a:lnTo>
                  <a:close/>
                </a:path>
              </a:pathLst>
            </a:custGeom>
            <a:solidFill>
              <a:srgbClr val="4832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677" y="1740563"/>
              <a:ext cx="137398" cy="13740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59288" y="1716506"/>
            <a:ext cx="89916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90">
                <a:solidFill>
                  <a:srgbClr val="FFFFFF"/>
                </a:solidFill>
                <a:latin typeface="Verdana"/>
                <a:cs typeface="Verdana"/>
              </a:rPr>
              <a:t>ARCHITECTURE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3299" y="1997384"/>
            <a:ext cx="3595370" cy="4902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0"/>
              <a:t> </a:t>
            </a:r>
            <a:r>
              <a:rPr dirty="0" spc="-85"/>
              <a:t>Architecture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578355" y="3738372"/>
            <a:ext cx="2858770" cy="17145"/>
          </a:xfrm>
          <a:custGeom>
            <a:avLst/>
            <a:gdLst/>
            <a:ahLst/>
            <a:cxnLst/>
            <a:rect l="l" t="t" r="r" b="b"/>
            <a:pathLst>
              <a:path w="2858770" h="17145">
                <a:moveTo>
                  <a:pt x="2858262" y="0"/>
                </a:moveTo>
                <a:lnTo>
                  <a:pt x="0" y="0"/>
                </a:lnTo>
                <a:lnTo>
                  <a:pt x="0" y="16762"/>
                </a:lnTo>
                <a:lnTo>
                  <a:pt x="2858262" y="16762"/>
                </a:lnTo>
                <a:lnTo>
                  <a:pt x="2858262" y="0"/>
                </a:lnTo>
                <a:close/>
              </a:path>
            </a:pathLst>
          </a:custGeom>
          <a:solidFill>
            <a:srgbClr val="F2B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63299" y="3825501"/>
            <a:ext cx="2702560" cy="872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5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r>
              <a:rPr dirty="0" sz="15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(CLI</a:t>
            </a:r>
            <a:r>
              <a:rPr dirty="0" sz="15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5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Trebuchet MS"/>
                <a:cs typeface="Trebuchet MS"/>
              </a:rPr>
              <a:t>UI)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5400"/>
              </a:lnSpc>
              <a:spcBef>
                <a:spcPts val="620"/>
              </a:spcBef>
            </a:pP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Flexible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submission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via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60">
                <a:solidFill>
                  <a:srgbClr val="FFFFFF"/>
                </a:solidFill>
                <a:latin typeface="Verdana"/>
                <a:cs typeface="Verdana"/>
              </a:rPr>
              <a:t>command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Verdana"/>
                <a:cs typeface="Verdana"/>
              </a:rPr>
              <a:t>line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web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interface.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595878" y="3738372"/>
            <a:ext cx="2867025" cy="17145"/>
          </a:xfrm>
          <a:custGeom>
            <a:avLst/>
            <a:gdLst/>
            <a:ahLst/>
            <a:cxnLst/>
            <a:rect l="l" t="t" r="r" b="b"/>
            <a:pathLst>
              <a:path w="2867025" h="17145">
                <a:moveTo>
                  <a:pt x="2866644" y="0"/>
                </a:moveTo>
                <a:lnTo>
                  <a:pt x="0" y="0"/>
                </a:lnTo>
                <a:lnTo>
                  <a:pt x="0" y="16762"/>
                </a:lnTo>
                <a:lnTo>
                  <a:pt x="2866644" y="16762"/>
                </a:lnTo>
                <a:lnTo>
                  <a:pt x="2866644" y="0"/>
                </a:lnTo>
                <a:close/>
              </a:path>
            </a:pathLst>
          </a:custGeom>
          <a:solidFill>
            <a:srgbClr val="D741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586848" y="3825501"/>
            <a:ext cx="2407285" cy="872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105" b="1">
                <a:solidFill>
                  <a:srgbClr val="FFFFFF"/>
                </a:solidFill>
                <a:latin typeface="Trebuchet MS"/>
                <a:cs typeface="Trebuchet MS"/>
              </a:rPr>
              <a:t>AST</a:t>
            </a:r>
            <a:r>
              <a:rPr dirty="0" sz="1500" spc="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Parsing</a:t>
            </a:r>
            <a:r>
              <a:rPr dirty="0" sz="1500" spc="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Engine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5400"/>
              </a:lnSpc>
              <a:spcBef>
                <a:spcPts val="620"/>
              </a:spcBef>
            </a:pP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In-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depth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structural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1300" spc="-30">
                <a:solidFill>
                  <a:srgbClr val="FFFFFF"/>
                </a:solidFill>
                <a:latin typeface="Verdana"/>
                <a:cs typeface="Verdana"/>
              </a:rPr>
              <a:t>codebase.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6802" y="2719215"/>
            <a:ext cx="8424545" cy="956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>
              <a:lnSpc>
                <a:spcPct val="131200"/>
              </a:lnSpc>
              <a:spcBef>
                <a:spcPts val="100"/>
              </a:spcBef>
            </a:pP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implements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clean,</a:t>
            </a:r>
            <a:r>
              <a:rPr dirty="0" sz="1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modular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architecture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layer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has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distinct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responsibility.</a:t>
            </a:r>
            <a:r>
              <a:rPr dirty="0" sz="1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flows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through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parsing,</a:t>
            </a:r>
            <a:r>
              <a:rPr dirty="0" sz="1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rule-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validation,</a:t>
            </a:r>
            <a:r>
              <a:rPr dirty="0" sz="13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AI-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enhanced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analysis,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finally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generates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structured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reports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developers.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035935" algn="l"/>
                <a:tab pos="6059805" algn="l"/>
              </a:tabLst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01</a:t>
            </a: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02</a:t>
            </a:r>
            <a:r>
              <a:rPr dirty="0" sz="13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621780" y="3738372"/>
            <a:ext cx="2858770" cy="17145"/>
          </a:xfrm>
          <a:custGeom>
            <a:avLst/>
            <a:gdLst/>
            <a:ahLst/>
            <a:cxnLst/>
            <a:rect l="l" t="t" r="r" b="b"/>
            <a:pathLst>
              <a:path w="2858770" h="17145">
                <a:moveTo>
                  <a:pt x="2858262" y="0"/>
                </a:moveTo>
                <a:lnTo>
                  <a:pt x="0" y="0"/>
                </a:lnTo>
                <a:lnTo>
                  <a:pt x="0" y="16762"/>
                </a:lnTo>
                <a:lnTo>
                  <a:pt x="2858262" y="16762"/>
                </a:lnTo>
                <a:lnTo>
                  <a:pt x="2858262" y="0"/>
                </a:lnTo>
                <a:close/>
              </a:path>
            </a:pathLst>
          </a:custGeom>
          <a:solidFill>
            <a:srgbClr val="DD7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610515" y="3825501"/>
            <a:ext cx="2668905" cy="872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Rule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 Engine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5400"/>
              </a:lnSpc>
              <a:spcBef>
                <a:spcPts val="620"/>
              </a:spcBef>
            </a:pP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Deterministic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checks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adherence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coding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standards.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46798" y="4986073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78355" y="5272278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48A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63299" y="5359407"/>
            <a:ext cx="3382645" cy="6038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80" b="1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dirty="0" sz="1500" spc="-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dirty="0" sz="150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Engine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Context-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aware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suggestions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deeper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insights.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82251" y="4986072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FFFFFF"/>
                </a:solidFill>
                <a:latin typeface="Courier New"/>
                <a:cs typeface="Courier New"/>
              </a:rPr>
              <a:t>05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113020" y="5272278"/>
            <a:ext cx="4367530" cy="17145"/>
          </a:xfrm>
          <a:custGeom>
            <a:avLst/>
            <a:gdLst/>
            <a:ahLst/>
            <a:cxnLst/>
            <a:rect l="l" t="t" r="r" b="b"/>
            <a:pathLst>
              <a:path w="4367530" h="17145">
                <a:moveTo>
                  <a:pt x="4367022" y="0"/>
                </a:moveTo>
                <a:lnTo>
                  <a:pt x="0" y="0"/>
                </a:lnTo>
                <a:lnTo>
                  <a:pt x="0" y="16762"/>
                </a:lnTo>
                <a:lnTo>
                  <a:pt x="4367022" y="16762"/>
                </a:lnTo>
                <a:lnTo>
                  <a:pt x="4367022" y="0"/>
                </a:lnTo>
                <a:close/>
              </a:path>
            </a:pathLst>
          </a:custGeom>
          <a:solidFill>
            <a:srgbClr val="59AA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098745" y="5359407"/>
            <a:ext cx="3312160" cy="6038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Reporting</a:t>
            </a:r>
            <a:r>
              <a:rPr dirty="0" sz="15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15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Output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Structured,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feedback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developers.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524" y="1209479"/>
            <a:ext cx="2739390" cy="4902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Technical</a:t>
            </a:r>
            <a:r>
              <a:rPr dirty="0" spc="-80"/>
              <a:t> </a:t>
            </a:r>
            <a:r>
              <a:rPr dirty="0" spc="-20"/>
              <a:t>Stack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8356" y="2154173"/>
            <a:ext cx="4250055" cy="4199890"/>
            <a:chOff x="578356" y="2154173"/>
            <a:chExt cx="4250055" cy="4199890"/>
          </a:xfrm>
        </p:grpSpPr>
        <p:sp>
          <p:nvSpPr>
            <p:cNvPr id="4" name="object 4" descr=""/>
            <p:cNvSpPr/>
            <p:nvPr/>
          </p:nvSpPr>
          <p:spPr>
            <a:xfrm>
              <a:off x="582547" y="2158364"/>
              <a:ext cx="4241800" cy="4191000"/>
            </a:xfrm>
            <a:custGeom>
              <a:avLst/>
              <a:gdLst/>
              <a:ahLst/>
              <a:cxnLst/>
              <a:rect l="l" t="t" r="r" b="b"/>
              <a:pathLst>
                <a:path w="4241800" h="4191000">
                  <a:moveTo>
                    <a:pt x="0" y="3989476"/>
                  </a:moveTo>
                  <a:lnTo>
                    <a:pt x="0" y="201523"/>
                  </a:lnTo>
                  <a:lnTo>
                    <a:pt x="0" y="194919"/>
                  </a:lnTo>
                  <a:lnTo>
                    <a:pt x="322" y="188341"/>
                  </a:lnTo>
                  <a:lnTo>
                    <a:pt x="972" y="181775"/>
                  </a:lnTo>
                  <a:lnTo>
                    <a:pt x="1617" y="175209"/>
                  </a:lnTo>
                  <a:lnTo>
                    <a:pt x="2584" y="168681"/>
                  </a:lnTo>
                  <a:lnTo>
                    <a:pt x="3874" y="162217"/>
                  </a:lnTo>
                  <a:lnTo>
                    <a:pt x="5160" y="155740"/>
                  </a:lnTo>
                  <a:lnTo>
                    <a:pt x="6761" y="149339"/>
                  </a:lnTo>
                  <a:lnTo>
                    <a:pt x="20687" y="112344"/>
                  </a:lnTo>
                  <a:lnTo>
                    <a:pt x="23798" y="106527"/>
                  </a:lnTo>
                  <a:lnTo>
                    <a:pt x="26908" y="100711"/>
                  </a:lnTo>
                  <a:lnTo>
                    <a:pt x="45745" y="73685"/>
                  </a:lnTo>
                  <a:lnTo>
                    <a:pt x="49932" y="68580"/>
                  </a:lnTo>
                  <a:lnTo>
                    <a:pt x="54362" y="63690"/>
                  </a:lnTo>
                  <a:lnTo>
                    <a:pt x="59025" y="59029"/>
                  </a:lnTo>
                  <a:lnTo>
                    <a:pt x="63694" y="54356"/>
                  </a:lnTo>
                  <a:lnTo>
                    <a:pt x="95051" y="30302"/>
                  </a:lnTo>
                  <a:lnTo>
                    <a:pt x="106531" y="23799"/>
                  </a:lnTo>
                  <a:lnTo>
                    <a:pt x="112350" y="20688"/>
                  </a:lnTo>
                  <a:lnTo>
                    <a:pt x="149344" y="6756"/>
                  </a:lnTo>
                  <a:lnTo>
                    <a:pt x="162213" y="3873"/>
                  </a:lnTo>
                  <a:lnTo>
                    <a:pt x="168686" y="2590"/>
                  </a:lnTo>
                  <a:lnTo>
                    <a:pt x="175205" y="1612"/>
                  </a:lnTo>
                  <a:lnTo>
                    <a:pt x="181773" y="977"/>
                  </a:lnTo>
                  <a:lnTo>
                    <a:pt x="188342" y="317"/>
                  </a:lnTo>
                  <a:lnTo>
                    <a:pt x="194931" y="0"/>
                  </a:lnTo>
                  <a:lnTo>
                    <a:pt x="201528" y="0"/>
                  </a:lnTo>
                  <a:lnTo>
                    <a:pt x="4039769" y="0"/>
                  </a:lnTo>
                  <a:lnTo>
                    <a:pt x="4046361" y="0"/>
                  </a:lnTo>
                  <a:lnTo>
                    <a:pt x="4052952" y="317"/>
                  </a:lnTo>
                  <a:lnTo>
                    <a:pt x="4059518" y="977"/>
                  </a:lnTo>
                  <a:lnTo>
                    <a:pt x="4066084" y="1612"/>
                  </a:lnTo>
                  <a:lnTo>
                    <a:pt x="4072611" y="2590"/>
                  </a:lnTo>
                  <a:lnTo>
                    <a:pt x="4079076" y="3873"/>
                  </a:lnTo>
                  <a:lnTo>
                    <a:pt x="4085553" y="5156"/>
                  </a:lnTo>
                  <a:lnTo>
                    <a:pt x="4091954" y="6756"/>
                  </a:lnTo>
                  <a:lnTo>
                    <a:pt x="4098265" y="8674"/>
                  </a:lnTo>
                  <a:lnTo>
                    <a:pt x="4104577" y="10591"/>
                  </a:lnTo>
                  <a:lnTo>
                    <a:pt x="4110788" y="12814"/>
                  </a:lnTo>
                  <a:lnTo>
                    <a:pt x="4116884" y="15341"/>
                  </a:lnTo>
                  <a:lnTo>
                    <a:pt x="4122980" y="17868"/>
                  </a:lnTo>
                  <a:lnTo>
                    <a:pt x="4157219" y="37630"/>
                  </a:lnTo>
                  <a:lnTo>
                    <a:pt x="4182263" y="59029"/>
                  </a:lnTo>
                  <a:lnTo>
                    <a:pt x="4186937" y="63690"/>
                  </a:lnTo>
                  <a:lnTo>
                    <a:pt x="4191356" y="68580"/>
                  </a:lnTo>
                  <a:lnTo>
                    <a:pt x="4195547" y="73685"/>
                  </a:lnTo>
                  <a:lnTo>
                    <a:pt x="4199738" y="78778"/>
                  </a:lnTo>
                  <a:lnTo>
                    <a:pt x="4203663" y="84074"/>
                  </a:lnTo>
                  <a:lnTo>
                    <a:pt x="4207320" y="89560"/>
                  </a:lnTo>
                  <a:lnTo>
                    <a:pt x="4211003" y="95046"/>
                  </a:lnTo>
                  <a:lnTo>
                    <a:pt x="4214382" y="100711"/>
                  </a:lnTo>
                  <a:lnTo>
                    <a:pt x="4217493" y="106527"/>
                  </a:lnTo>
                  <a:lnTo>
                    <a:pt x="4220605" y="112344"/>
                  </a:lnTo>
                  <a:lnTo>
                    <a:pt x="4223424" y="118313"/>
                  </a:lnTo>
                  <a:lnTo>
                    <a:pt x="4225951" y="124409"/>
                  </a:lnTo>
                  <a:lnTo>
                    <a:pt x="4228479" y="130505"/>
                  </a:lnTo>
                  <a:lnTo>
                    <a:pt x="4230701" y="136702"/>
                  </a:lnTo>
                  <a:lnTo>
                    <a:pt x="4232619" y="143027"/>
                  </a:lnTo>
                  <a:lnTo>
                    <a:pt x="4234536" y="149339"/>
                  </a:lnTo>
                  <a:lnTo>
                    <a:pt x="4236137" y="155740"/>
                  </a:lnTo>
                  <a:lnTo>
                    <a:pt x="4237419" y="162217"/>
                  </a:lnTo>
                  <a:lnTo>
                    <a:pt x="4238715" y="168681"/>
                  </a:lnTo>
                  <a:lnTo>
                    <a:pt x="4239680" y="175209"/>
                  </a:lnTo>
                  <a:lnTo>
                    <a:pt x="4240328" y="181775"/>
                  </a:lnTo>
                  <a:lnTo>
                    <a:pt x="4240975" y="188341"/>
                  </a:lnTo>
                  <a:lnTo>
                    <a:pt x="4241293" y="194919"/>
                  </a:lnTo>
                  <a:lnTo>
                    <a:pt x="4241293" y="201523"/>
                  </a:lnTo>
                  <a:lnTo>
                    <a:pt x="4241293" y="3989476"/>
                  </a:lnTo>
                  <a:lnTo>
                    <a:pt x="4241293" y="3996067"/>
                  </a:lnTo>
                  <a:lnTo>
                    <a:pt x="4240975" y="4002659"/>
                  </a:lnTo>
                  <a:lnTo>
                    <a:pt x="4240328" y="4009224"/>
                  </a:lnTo>
                  <a:lnTo>
                    <a:pt x="4239680" y="4015790"/>
                  </a:lnTo>
                  <a:lnTo>
                    <a:pt x="4238715" y="4022318"/>
                  </a:lnTo>
                  <a:lnTo>
                    <a:pt x="4237419" y="4028782"/>
                  </a:lnTo>
                  <a:lnTo>
                    <a:pt x="4236137" y="4035259"/>
                  </a:lnTo>
                  <a:lnTo>
                    <a:pt x="4234536" y="4041660"/>
                  </a:lnTo>
                  <a:lnTo>
                    <a:pt x="4232606" y="4047972"/>
                  </a:lnTo>
                  <a:lnTo>
                    <a:pt x="4230701" y="4054284"/>
                  </a:lnTo>
                  <a:lnTo>
                    <a:pt x="4228479" y="4060494"/>
                  </a:lnTo>
                  <a:lnTo>
                    <a:pt x="4225951" y="4066590"/>
                  </a:lnTo>
                  <a:lnTo>
                    <a:pt x="4223424" y="4072686"/>
                  </a:lnTo>
                  <a:lnTo>
                    <a:pt x="4220605" y="4078655"/>
                  </a:lnTo>
                  <a:lnTo>
                    <a:pt x="4217493" y="4084472"/>
                  </a:lnTo>
                  <a:lnTo>
                    <a:pt x="4214382" y="4090289"/>
                  </a:lnTo>
                  <a:lnTo>
                    <a:pt x="4211003" y="4095953"/>
                  </a:lnTo>
                  <a:lnTo>
                    <a:pt x="4207320" y="4101439"/>
                  </a:lnTo>
                  <a:lnTo>
                    <a:pt x="4203663" y="4106926"/>
                  </a:lnTo>
                  <a:lnTo>
                    <a:pt x="4182263" y="4131970"/>
                  </a:lnTo>
                  <a:lnTo>
                    <a:pt x="4177602" y="4136644"/>
                  </a:lnTo>
                  <a:lnTo>
                    <a:pt x="4151732" y="4157027"/>
                  </a:lnTo>
                  <a:lnTo>
                    <a:pt x="4146233" y="4160697"/>
                  </a:lnTo>
                  <a:lnTo>
                    <a:pt x="4140582" y="4164088"/>
                  </a:lnTo>
                  <a:lnTo>
                    <a:pt x="4134765" y="4167200"/>
                  </a:lnTo>
                  <a:lnTo>
                    <a:pt x="4128949" y="4170311"/>
                  </a:lnTo>
                  <a:lnTo>
                    <a:pt x="4091954" y="4184243"/>
                  </a:lnTo>
                  <a:lnTo>
                    <a:pt x="4079076" y="4187126"/>
                  </a:lnTo>
                  <a:lnTo>
                    <a:pt x="4072611" y="4188409"/>
                  </a:lnTo>
                  <a:lnTo>
                    <a:pt x="4066084" y="4189387"/>
                  </a:lnTo>
                  <a:lnTo>
                    <a:pt x="4059518" y="4190022"/>
                  </a:lnTo>
                  <a:lnTo>
                    <a:pt x="4052952" y="4190682"/>
                  </a:lnTo>
                  <a:lnTo>
                    <a:pt x="4046361" y="4191000"/>
                  </a:lnTo>
                  <a:lnTo>
                    <a:pt x="4039769" y="4191000"/>
                  </a:lnTo>
                  <a:lnTo>
                    <a:pt x="201528" y="4191000"/>
                  </a:lnTo>
                  <a:lnTo>
                    <a:pt x="194931" y="4191000"/>
                  </a:lnTo>
                  <a:lnTo>
                    <a:pt x="188342" y="4190682"/>
                  </a:lnTo>
                  <a:lnTo>
                    <a:pt x="181773" y="4190022"/>
                  </a:lnTo>
                  <a:lnTo>
                    <a:pt x="175205" y="4189387"/>
                  </a:lnTo>
                  <a:lnTo>
                    <a:pt x="168686" y="4188409"/>
                  </a:lnTo>
                  <a:lnTo>
                    <a:pt x="162213" y="4187126"/>
                  </a:lnTo>
                  <a:lnTo>
                    <a:pt x="155738" y="4185843"/>
                  </a:lnTo>
                  <a:lnTo>
                    <a:pt x="118308" y="4173131"/>
                  </a:lnTo>
                  <a:lnTo>
                    <a:pt x="106531" y="4167200"/>
                  </a:lnTo>
                  <a:lnTo>
                    <a:pt x="100707" y="4164088"/>
                  </a:lnTo>
                  <a:lnTo>
                    <a:pt x="95051" y="4160697"/>
                  </a:lnTo>
                  <a:lnTo>
                    <a:pt x="89565" y="4157027"/>
                  </a:lnTo>
                  <a:lnTo>
                    <a:pt x="84077" y="4153369"/>
                  </a:lnTo>
                  <a:lnTo>
                    <a:pt x="59025" y="4131970"/>
                  </a:lnTo>
                  <a:lnTo>
                    <a:pt x="54362" y="4127309"/>
                  </a:lnTo>
                  <a:lnTo>
                    <a:pt x="30297" y="4095953"/>
                  </a:lnTo>
                  <a:lnTo>
                    <a:pt x="23798" y="4084472"/>
                  </a:lnTo>
                  <a:lnTo>
                    <a:pt x="20687" y="4078655"/>
                  </a:lnTo>
                  <a:lnTo>
                    <a:pt x="6761" y="4041660"/>
                  </a:lnTo>
                  <a:lnTo>
                    <a:pt x="3874" y="4028782"/>
                  </a:lnTo>
                  <a:lnTo>
                    <a:pt x="2584" y="4022318"/>
                  </a:lnTo>
                  <a:lnTo>
                    <a:pt x="1617" y="4015790"/>
                  </a:lnTo>
                  <a:lnTo>
                    <a:pt x="972" y="4009224"/>
                  </a:lnTo>
                  <a:lnTo>
                    <a:pt x="322" y="4002659"/>
                  </a:lnTo>
                  <a:lnTo>
                    <a:pt x="0" y="3996067"/>
                  </a:lnTo>
                  <a:lnTo>
                    <a:pt x="0" y="3989476"/>
                  </a:lnTo>
                  <a:close/>
                </a:path>
              </a:pathLst>
            </a:custGeom>
            <a:ln w="83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6727" y="2162568"/>
              <a:ext cx="4232910" cy="478155"/>
            </a:xfrm>
            <a:custGeom>
              <a:avLst/>
              <a:gdLst/>
              <a:ahLst/>
              <a:cxnLst/>
              <a:rect l="l" t="t" r="r" b="b"/>
              <a:pathLst>
                <a:path w="4232910" h="478155">
                  <a:moveTo>
                    <a:pt x="1408176" y="0"/>
                  </a:moveTo>
                  <a:lnTo>
                    <a:pt x="205727" y="0"/>
                  </a:lnTo>
                  <a:lnTo>
                    <a:pt x="195618" y="241"/>
                  </a:lnTo>
                  <a:lnTo>
                    <a:pt x="155727" y="6159"/>
                  </a:lnTo>
                  <a:lnTo>
                    <a:pt x="117754" y="19748"/>
                  </a:lnTo>
                  <a:lnTo>
                    <a:pt x="83159" y="40487"/>
                  </a:lnTo>
                  <a:lnTo>
                    <a:pt x="53289" y="67564"/>
                  </a:lnTo>
                  <a:lnTo>
                    <a:pt x="29273" y="99961"/>
                  </a:lnTo>
                  <a:lnTo>
                    <a:pt x="12026" y="136410"/>
                  </a:lnTo>
                  <a:lnTo>
                    <a:pt x="2235" y="175539"/>
                  </a:lnTo>
                  <a:lnTo>
                    <a:pt x="0" y="205714"/>
                  </a:lnTo>
                  <a:lnTo>
                    <a:pt x="0" y="477774"/>
                  </a:lnTo>
                  <a:lnTo>
                    <a:pt x="1408176" y="477774"/>
                  </a:lnTo>
                  <a:lnTo>
                    <a:pt x="1408176" y="0"/>
                  </a:lnTo>
                  <a:close/>
                </a:path>
                <a:path w="4232910" h="478155">
                  <a:moveTo>
                    <a:pt x="4232910" y="205714"/>
                  </a:moveTo>
                  <a:lnTo>
                    <a:pt x="4228960" y="165582"/>
                  </a:lnTo>
                  <a:lnTo>
                    <a:pt x="4217251" y="126987"/>
                  </a:lnTo>
                  <a:lnTo>
                    <a:pt x="4198239" y="91427"/>
                  </a:lnTo>
                  <a:lnTo>
                    <a:pt x="4172648" y="60248"/>
                  </a:lnTo>
                  <a:lnTo>
                    <a:pt x="4141482" y="34671"/>
                  </a:lnTo>
                  <a:lnTo>
                    <a:pt x="4105910" y="15659"/>
                  </a:lnTo>
                  <a:lnTo>
                    <a:pt x="4067327" y="3949"/>
                  </a:lnTo>
                  <a:lnTo>
                    <a:pt x="4027195" y="0"/>
                  </a:lnTo>
                  <a:lnTo>
                    <a:pt x="2824734" y="0"/>
                  </a:lnTo>
                  <a:lnTo>
                    <a:pt x="2824734" y="477774"/>
                  </a:lnTo>
                  <a:lnTo>
                    <a:pt x="4232910" y="477774"/>
                  </a:lnTo>
                  <a:lnTo>
                    <a:pt x="4232910" y="20571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6727" y="5599188"/>
              <a:ext cx="4232910" cy="746125"/>
            </a:xfrm>
            <a:custGeom>
              <a:avLst/>
              <a:gdLst/>
              <a:ahLst/>
              <a:cxnLst/>
              <a:rect l="l" t="t" r="r" b="b"/>
              <a:pathLst>
                <a:path w="4232910" h="746125">
                  <a:moveTo>
                    <a:pt x="1408176" y="0"/>
                  </a:moveTo>
                  <a:lnTo>
                    <a:pt x="0" y="0"/>
                  </a:lnTo>
                  <a:lnTo>
                    <a:pt x="0" y="540270"/>
                  </a:lnTo>
                  <a:lnTo>
                    <a:pt x="3962" y="580415"/>
                  </a:lnTo>
                  <a:lnTo>
                    <a:pt x="15671" y="618998"/>
                  </a:lnTo>
                  <a:lnTo>
                    <a:pt x="34683" y="654570"/>
                  </a:lnTo>
                  <a:lnTo>
                    <a:pt x="60261" y="685736"/>
                  </a:lnTo>
                  <a:lnTo>
                    <a:pt x="91427" y="711327"/>
                  </a:lnTo>
                  <a:lnTo>
                    <a:pt x="127000" y="730338"/>
                  </a:lnTo>
                  <a:lnTo>
                    <a:pt x="165595" y="742048"/>
                  </a:lnTo>
                  <a:lnTo>
                    <a:pt x="205727" y="745998"/>
                  </a:lnTo>
                  <a:lnTo>
                    <a:pt x="1408176" y="745998"/>
                  </a:lnTo>
                  <a:lnTo>
                    <a:pt x="1408176" y="0"/>
                  </a:lnTo>
                  <a:close/>
                </a:path>
                <a:path w="4232910" h="746125">
                  <a:moveTo>
                    <a:pt x="4232910" y="0"/>
                  </a:moveTo>
                  <a:lnTo>
                    <a:pt x="2824734" y="0"/>
                  </a:lnTo>
                  <a:lnTo>
                    <a:pt x="2824734" y="745998"/>
                  </a:lnTo>
                  <a:lnTo>
                    <a:pt x="4027195" y="745998"/>
                  </a:lnTo>
                  <a:lnTo>
                    <a:pt x="4037304" y="745744"/>
                  </a:lnTo>
                  <a:lnTo>
                    <a:pt x="4077195" y="739825"/>
                  </a:lnTo>
                  <a:lnTo>
                    <a:pt x="4115155" y="726236"/>
                  </a:lnTo>
                  <a:lnTo>
                    <a:pt x="4149750" y="705497"/>
                  </a:lnTo>
                  <a:lnTo>
                    <a:pt x="4179633" y="678408"/>
                  </a:lnTo>
                  <a:lnTo>
                    <a:pt x="4203649" y="646023"/>
                  </a:lnTo>
                  <a:lnTo>
                    <a:pt x="4220896" y="609561"/>
                  </a:lnTo>
                  <a:lnTo>
                    <a:pt x="4230687" y="570445"/>
                  </a:lnTo>
                  <a:lnTo>
                    <a:pt x="4232910" y="540270"/>
                  </a:lnTo>
                  <a:lnTo>
                    <a:pt x="423291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86740" y="2162557"/>
          <a:ext cx="4309110" cy="4180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240"/>
                <a:gridCol w="1407795"/>
                <a:gridCol w="1412239"/>
              </a:tblGrid>
              <a:tr h="47752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Layer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40406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Technology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404062"/>
                      </a:solidFill>
                      <a:prstDash val="solid"/>
                    </a:ln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Parsing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r>
                        <a:rPr dirty="0" sz="1300" spc="-10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AST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 marR="168275">
                        <a:lnSpc>
                          <a:spcPct val="131200"/>
                        </a:lnSpc>
                        <a:spcBef>
                          <a:spcPts val="590"/>
                        </a:spcBef>
                      </a:pPr>
                      <a:r>
                        <a:rPr dirty="0" sz="1300" spc="-12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Structural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1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code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extraction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0406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74549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Rules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634365">
                        <a:lnSpc>
                          <a:spcPct val="131200"/>
                        </a:lnSpc>
                        <a:spcBef>
                          <a:spcPts val="590"/>
                        </a:spcBef>
                      </a:pPr>
                      <a:r>
                        <a:rPr dirty="0" sz="1300" spc="-5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Custom </a:t>
                      </a:r>
                      <a:r>
                        <a:rPr dirty="0" sz="1300" spc="-1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modules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 marR="459740">
                        <a:lnSpc>
                          <a:spcPct val="131200"/>
                        </a:lnSpc>
                        <a:spcBef>
                          <a:spcPts val="590"/>
                        </a:spcBef>
                      </a:pPr>
                      <a:r>
                        <a:rPr dirty="0" sz="1300" spc="-15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Code</a:t>
                      </a:r>
                      <a:r>
                        <a:rPr dirty="0" sz="1300" spc="-9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9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smell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detection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04062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00" spc="-16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AI</a:t>
                      </a:r>
                      <a:r>
                        <a:rPr dirty="0" sz="1300" spc="-10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Engine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00" spc="-14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OpenAI</a:t>
                      </a:r>
                      <a:r>
                        <a:rPr dirty="0" sz="1300" spc="-1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API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00" spc="-14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Context-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aware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40406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00" spc="-3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suggestions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29845">
                    <a:lnL w="9525">
                      <a:solidFill>
                        <a:srgbClr val="40406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Interface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4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CLI</a:t>
                      </a:r>
                      <a:r>
                        <a:rPr dirty="0" sz="1300" spc="-1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41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dirty="0" sz="1300" spc="-10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Streamlit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 marR="473075">
                        <a:lnSpc>
                          <a:spcPct val="131200"/>
                        </a:lnSpc>
                        <a:spcBef>
                          <a:spcPts val="590"/>
                        </a:spcBef>
                      </a:pPr>
                      <a:r>
                        <a:rPr dirty="0" sz="1300" spc="-2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User </a:t>
                      </a:r>
                      <a:r>
                        <a:rPr dirty="0" sz="1300" spc="-10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interaction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04062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74549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Config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40406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dotenv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404062"/>
                      </a:solidFill>
                      <a:prstDash val="solid"/>
                    </a:lnL>
                    <a:lnR w="9525">
                      <a:solidFill>
                        <a:srgbClr val="40406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9545" marR="485775">
                        <a:lnSpc>
                          <a:spcPct val="131200"/>
                        </a:lnSpc>
                        <a:spcBef>
                          <a:spcPts val="590"/>
                        </a:spcBef>
                      </a:pPr>
                      <a:r>
                        <a:rPr dirty="0" sz="1300" spc="-14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Secure</a:t>
                      </a:r>
                      <a:r>
                        <a:rPr dirty="0" sz="1300" spc="-7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00" spc="-16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key 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handling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 marT="74930">
                    <a:lnL w="9525">
                      <a:solidFill>
                        <a:srgbClr val="404062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5225190" y="2101998"/>
            <a:ext cx="4271645" cy="19253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Technology</a:t>
            </a:r>
            <a:r>
              <a:rPr dirty="0" sz="1800" spc="-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Choices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31200"/>
              </a:lnSpc>
              <a:spcBef>
                <a:spcPts val="1290"/>
              </a:spcBef>
            </a:pP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Built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proven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ecosystem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tools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enterprise-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grade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practices.</a:t>
            </a:r>
            <a:r>
              <a:rPr dirty="0" sz="13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modular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allows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easy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extension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customization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team-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specific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requirements.</a:t>
            </a:r>
            <a:endParaRPr sz="1300">
              <a:latin typeface="Verdana"/>
              <a:cs typeface="Verdana"/>
            </a:endParaRPr>
          </a:p>
          <a:p>
            <a:pPr marL="12700" marR="164465">
              <a:lnSpc>
                <a:spcPct val="131200"/>
              </a:lnSpc>
              <a:spcBef>
                <a:spcPts val="1250"/>
              </a:spcBef>
            </a:pP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API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keys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sensitive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configuration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managed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through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environment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variables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following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best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practices.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58" y="1785366"/>
            <a:ext cx="1919478" cy="256489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908554" y="1785365"/>
            <a:ext cx="1358265" cy="310515"/>
            <a:chOff x="2908554" y="1785365"/>
            <a:chExt cx="1358265" cy="310515"/>
          </a:xfrm>
        </p:grpSpPr>
        <p:sp>
          <p:nvSpPr>
            <p:cNvPr id="4" name="object 4" descr=""/>
            <p:cNvSpPr/>
            <p:nvPr/>
          </p:nvSpPr>
          <p:spPr>
            <a:xfrm>
              <a:off x="2908554" y="1785365"/>
              <a:ext cx="1358265" cy="310515"/>
            </a:xfrm>
            <a:custGeom>
              <a:avLst/>
              <a:gdLst/>
              <a:ahLst/>
              <a:cxnLst/>
              <a:rect l="l" t="t" r="r" b="b"/>
              <a:pathLst>
                <a:path w="1358264" h="310514">
                  <a:moveTo>
                    <a:pt x="1202817" y="0"/>
                  </a:moveTo>
                  <a:lnTo>
                    <a:pt x="155067" y="0"/>
                  </a:lnTo>
                  <a:lnTo>
                    <a:pt x="147447" y="185"/>
                  </a:lnTo>
                  <a:lnTo>
                    <a:pt x="102832" y="9060"/>
                  </a:lnTo>
                  <a:lnTo>
                    <a:pt x="62683" y="30515"/>
                  </a:lnTo>
                  <a:lnTo>
                    <a:pt x="30520" y="62683"/>
                  </a:lnTo>
                  <a:lnTo>
                    <a:pt x="9060" y="102830"/>
                  </a:lnTo>
                  <a:lnTo>
                    <a:pt x="185" y="147447"/>
                  </a:lnTo>
                  <a:lnTo>
                    <a:pt x="0" y="155067"/>
                  </a:lnTo>
                  <a:lnTo>
                    <a:pt x="185" y="162687"/>
                  </a:lnTo>
                  <a:lnTo>
                    <a:pt x="9060" y="207296"/>
                  </a:lnTo>
                  <a:lnTo>
                    <a:pt x="30520" y="247445"/>
                  </a:lnTo>
                  <a:lnTo>
                    <a:pt x="62683" y="279613"/>
                  </a:lnTo>
                  <a:lnTo>
                    <a:pt x="102832" y="301068"/>
                  </a:lnTo>
                  <a:lnTo>
                    <a:pt x="147447" y="309948"/>
                  </a:lnTo>
                  <a:lnTo>
                    <a:pt x="155067" y="310134"/>
                  </a:lnTo>
                  <a:lnTo>
                    <a:pt x="1202817" y="310134"/>
                  </a:lnTo>
                  <a:lnTo>
                    <a:pt x="1247828" y="303455"/>
                  </a:lnTo>
                  <a:lnTo>
                    <a:pt x="1288961" y="283997"/>
                  </a:lnTo>
                  <a:lnTo>
                    <a:pt x="1322684" y="253441"/>
                  </a:lnTo>
                  <a:lnTo>
                    <a:pt x="1346085" y="214401"/>
                  </a:lnTo>
                  <a:lnTo>
                    <a:pt x="1357139" y="170268"/>
                  </a:lnTo>
                  <a:lnTo>
                    <a:pt x="1357884" y="155067"/>
                  </a:lnTo>
                  <a:lnTo>
                    <a:pt x="1357698" y="147447"/>
                  </a:lnTo>
                  <a:lnTo>
                    <a:pt x="1348823" y="102830"/>
                  </a:lnTo>
                  <a:lnTo>
                    <a:pt x="1327361" y="62683"/>
                  </a:lnTo>
                  <a:lnTo>
                    <a:pt x="1295195" y="30520"/>
                  </a:lnTo>
                  <a:lnTo>
                    <a:pt x="1255046" y="9060"/>
                  </a:lnTo>
                  <a:lnTo>
                    <a:pt x="1210437" y="185"/>
                  </a:lnTo>
                  <a:lnTo>
                    <a:pt x="1202817" y="0"/>
                  </a:lnTo>
                  <a:close/>
                </a:path>
              </a:pathLst>
            </a:custGeom>
            <a:solidFill>
              <a:srgbClr val="4832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5414" y="1877324"/>
              <a:ext cx="138358" cy="13212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194596" y="1842236"/>
            <a:ext cx="98742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125">
                <a:solidFill>
                  <a:srgbClr val="FFFFFF"/>
                </a:solidFill>
                <a:latin typeface="Verdana"/>
                <a:cs typeface="Verdana"/>
              </a:rPr>
              <a:t>STATIC</a:t>
            </a:r>
            <a:r>
              <a:rPr dirty="0" sz="100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95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98607" y="2131499"/>
            <a:ext cx="3940810" cy="4902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Static</a:t>
            </a:r>
            <a:r>
              <a:rPr dirty="0" spc="-30"/>
              <a:t> </a:t>
            </a:r>
            <a:r>
              <a:rPr dirty="0"/>
              <a:t>Analysis</a:t>
            </a:r>
            <a:r>
              <a:rPr dirty="0" spc="-30"/>
              <a:t> </a:t>
            </a:r>
            <a:r>
              <a:rPr dirty="0" spc="-10"/>
              <a:t>Engine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2908554" y="2833116"/>
            <a:ext cx="2087245" cy="2481580"/>
            <a:chOff x="2908554" y="2833116"/>
            <a:chExt cx="2087245" cy="2481580"/>
          </a:xfrm>
        </p:grpSpPr>
        <p:sp>
          <p:nvSpPr>
            <p:cNvPr id="9" name="object 9" descr=""/>
            <p:cNvSpPr/>
            <p:nvPr/>
          </p:nvSpPr>
          <p:spPr>
            <a:xfrm>
              <a:off x="2916936" y="2841498"/>
              <a:ext cx="2070735" cy="2464435"/>
            </a:xfrm>
            <a:custGeom>
              <a:avLst/>
              <a:gdLst/>
              <a:ahLst/>
              <a:cxnLst/>
              <a:rect l="l" t="t" r="r" b="b"/>
              <a:pathLst>
                <a:path w="2070735" h="2464435">
                  <a:moveTo>
                    <a:pt x="1873021" y="0"/>
                  </a:moveTo>
                  <a:lnTo>
                    <a:pt x="197332" y="0"/>
                  </a:lnTo>
                  <a:lnTo>
                    <a:pt x="187640" y="236"/>
                  </a:lnTo>
                  <a:lnTo>
                    <a:pt x="149373" y="5914"/>
                  </a:lnTo>
                  <a:lnTo>
                    <a:pt x="112950" y="18950"/>
                  </a:lnTo>
                  <a:lnTo>
                    <a:pt x="79777" y="38839"/>
                  </a:lnTo>
                  <a:lnTo>
                    <a:pt x="51113" y="64817"/>
                  </a:lnTo>
                  <a:lnTo>
                    <a:pt x="28070" y="95895"/>
                  </a:lnTo>
                  <a:lnTo>
                    <a:pt x="11530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2266975"/>
                  </a:lnTo>
                  <a:lnTo>
                    <a:pt x="3797" y="2305469"/>
                  </a:lnTo>
                  <a:lnTo>
                    <a:pt x="15024" y="2342489"/>
                  </a:lnTo>
                  <a:lnTo>
                    <a:pt x="33261" y="2376601"/>
                  </a:lnTo>
                  <a:lnTo>
                    <a:pt x="57797" y="2406510"/>
                  </a:lnTo>
                  <a:lnTo>
                    <a:pt x="87706" y="2431046"/>
                  </a:lnTo>
                  <a:lnTo>
                    <a:pt x="121818" y="2449283"/>
                  </a:lnTo>
                  <a:lnTo>
                    <a:pt x="158838" y="2460510"/>
                  </a:lnTo>
                  <a:lnTo>
                    <a:pt x="197332" y="2464308"/>
                  </a:lnTo>
                  <a:lnTo>
                    <a:pt x="1873021" y="2464308"/>
                  </a:lnTo>
                  <a:lnTo>
                    <a:pt x="1911515" y="2460510"/>
                  </a:lnTo>
                  <a:lnTo>
                    <a:pt x="1948535" y="2449283"/>
                  </a:lnTo>
                  <a:lnTo>
                    <a:pt x="1982647" y="2431046"/>
                  </a:lnTo>
                  <a:lnTo>
                    <a:pt x="2012556" y="2406510"/>
                  </a:lnTo>
                  <a:lnTo>
                    <a:pt x="2037092" y="2376601"/>
                  </a:lnTo>
                  <a:lnTo>
                    <a:pt x="2055329" y="2342489"/>
                  </a:lnTo>
                  <a:lnTo>
                    <a:pt x="2066569" y="2305469"/>
                  </a:lnTo>
                  <a:lnTo>
                    <a:pt x="2070354" y="2266975"/>
                  </a:lnTo>
                  <a:lnTo>
                    <a:pt x="2070354" y="197332"/>
                  </a:lnTo>
                  <a:lnTo>
                    <a:pt x="2066569" y="158838"/>
                  </a:lnTo>
                  <a:lnTo>
                    <a:pt x="2055329" y="121818"/>
                  </a:lnTo>
                  <a:lnTo>
                    <a:pt x="2037092" y="87706"/>
                  </a:lnTo>
                  <a:lnTo>
                    <a:pt x="2012556" y="57797"/>
                  </a:lnTo>
                  <a:lnTo>
                    <a:pt x="1982647" y="33261"/>
                  </a:lnTo>
                  <a:lnTo>
                    <a:pt x="1948535" y="15024"/>
                  </a:lnTo>
                  <a:lnTo>
                    <a:pt x="1911515" y="3797"/>
                  </a:lnTo>
                  <a:lnTo>
                    <a:pt x="1873021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16936" y="2841498"/>
              <a:ext cx="2070735" cy="2464435"/>
            </a:xfrm>
            <a:custGeom>
              <a:avLst/>
              <a:gdLst/>
              <a:ahLst/>
              <a:cxnLst/>
              <a:rect l="l" t="t" r="r" b="b"/>
              <a:pathLst>
                <a:path w="2070735" h="2464435">
                  <a:moveTo>
                    <a:pt x="0" y="2266975"/>
                  </a:moveTo>
                  <a:lnTo>
                    <a:pt x="0" y="197332"/>
                  </a:lnTo>
                  <a:lnTo>
                    <a:pt x="236" y="187640"/>
                  </a:lnTo>
                  <a:lnTo>
                    <a:pt x="5919" y="149375"/>
                  </a:lnTo>
                  <a:lnTo>
                    <a:pt x="18950" y="112950"/>
                  </a:lnTo>
                  <a:lnTo>
                    <a:pt x="38845" y="79771"/>
                  </a:lnTo>
                  <a:lnTo>
                    <a:pt x="64819" y="51111"/>
                  </a:lnTo>
                  <a:lnTo>
                    <a:pt x="95895" y="28070"/>
                  </a:lnTo>
                  <a:lnTo>
                    <a:pt x="130862" y="11528"/>
                  </a:lnTo>
                  <a:lnTo>
                    <a:pt x="168395" y="2132"/>
                  </a:lnTo>
                  <a:lnTo>
                    <a:pt x="197332" y="0"/>
                  </a:lnTo>
                  <a:lnTo>
                    <a:pt x="1873021" y="0"/>
                  </a:lnTo>
                  <a:lnTo>
                    <a:pt x="1911515" y="3797"/>
                  </a:lnTo>
                  <a:lnTo>
                    <a:pt x="1948535" y="15024"/>
                  </a:lnTo>
                  <a:lnTo>
                    <a:pt x="1982647" y="33261"/>
                  </a:lnTo>
                  <a:lnTo>
                    <a:pt x="2012556" y="57797"/>
                  </a:lnTo>
                  <a:lnTo>
                    <a:pt x="2037092" y="87706"/>
                  </a:lnTo>
                  <a:lnTo>
                    <a:pt x="2055329" y="121818"/>
                  </a:lnTo>
                  <a:lnTo>
                    <a:pt x="2066569" y="158838"/>
                  </a:lnTo>
                  <a:lnTo>
                    <a:pt x="2070354" y="197332"/>
                  </a:lnTo>
                  <a:lnTo>
                    <a:pt x="2070354" y="2266975"/>
                  </a:lnTo>
                  <a:lnTo>
                    <a:pt x="2066569" y="2305469"/>
                  </a:lnTo>
                  <a:lnTo>
                    <a:pt x="2055329" y="2342489"/>
                  </a:lnTo>
                  <a:lnTo>
                    <a:pt x="2037092" y="2376601"/>
                  </a:lnTo>
                  <a:lnTo>
                    <a:pt x="2012556" y="2406510"/>
                  </a:lnTo>
                  <a:lnTo>
                    <a:pt x="1982647" y="2431046"/>
                  </a:lnTo>
                  <a:lnTo>
                    <a:pt x="1948535" y="2449283"/>
                  </a:lnTo>
                  <a:lnTo>
                    <a:pt x="1911515" y="2460510"/>
                  </a:lnTo>
                  <a:lnTo>
                    <a:pt x="1873021" y="2464308"/>
                  </a:lnTo>
                  <a:lnTo>
                    <a:pt x="197332" y="2464308"/>
                  </a:lnTo>
                  <a:lnTo>
                    <a:pt x="158838" y="2460510"/>
                  </a:lnTo>
                  <a:lnTo>
                    <a:pt x="121818" y="2449283"/>
                  </a:lnTo>
                  <a:lnTo>
                    <a:pt x="87706" y="2431046"/>
                  </a:lnTo>
                  <a:lnTo>
                    <a:pt x="57797" y="2406510"/>
                  </a:lnTo>
                  <a:lnTo>
                    <a:pt x="33261" y="2376601"/>
                  </a:lnTo>
                  <a:lnTo>
                    <a:pt x="15024" y="2342489"/>
                  </a:lnTo>
                  <a:lnTo>
                    <a:pt x="3797" y="2305469"/>
                  </a:lnTo>
                  <a:lnTo>
                    <a:pt x="0" y="2266975"/>
                  </a:lnTo>
                  <a:close/>
                </a:path>
              </a:pathLst>
            </a:custGeom>
            <a:ln w="16764">
              <a:solidFill>
                <a:srgbClr val="F2B3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92958" y="300913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255371" y="0"/>
                  </a:moveTo>
                  <a:lnTo>
                    <a:pt x="239166" y="0"/>
                  </a:lnTo>
                  <a:lnTo>
                    <a:pt x="231089" y="393"/>
                  </a:lnTo>
                  <a:lnTo>
                    <a:pt x="191084" y="6324"/>
                  </a:lnTo>
                  <a:lnTo>
                    <a:pt x="145161" y="21920"/>
                  </a:lnTo>
                  <a:lnTo>
                    <a:pt x="103162" y="46164"/>
                  </a:lnTo>
                  <a:lnTo>
                    <a:pt x="66700" y="78143"/>
                  </a:lnTo>
                  <a:lnTo>
                    <a:pt x="37172" y="116624"/>
                  </a:lnTo>
                  <a:lnTo>
                    <a:pt x="15722" y="160121"/>
                  </a:lnTo>
                  <a:lnTo>
                    <a:pt x="3175" y="206971"/>
                  </a:lnTo>
                  <a:lnTo>
                    <a:pt x="0" y="239166"/>
                  </a:lnTo>
                  <a:lnTo>
                    <a:pt x="0" y="255371"/>
                  </a:lnTo>
                  <a:lnTo>
                    <a:pt x="6337" y="303453"/>
                  </a:lnTo>
                  <a:lnTo>
                    <a:pt x="21920" y="349377"/>
                  </a:lnTo>
                  <a:lnTo>
                    <a:pt x="46164" y="391375"/>
                  </a:lnTo>
                  <a:lnTo>
                    <a:pt x="78143" y="427837"/>
                  </a:lnTo>
                  <a:lnTo>
                    <a:pt x="116624" y="457365"/>
                  </a:lnTo>
                  <a:lnTo>
                    <a:pt x="160121" y="478815"/>
                  </a:lnTo>
                  <a:lnTo>
                    <a:pt x="206971" y="491363"/>
                  </a:lnTo>
                  <a:lnTo>
                    <a:pt x="239166" y="494538"/>
                  </a:lnTo>
                  <a:lnTo>
                    <a:pt x="255371" y="494538"/>
                  </a:lnTo>
                  <a:lnTo>
                    <a:pt x="303453" y="488200"/>
                  </a:lnTo>
                  <a:lnTo>
                    <a:pt x="349377" y="472617"/>
                  </a:lnTo>
                  <a:lnTo>
                    <a:pt x="391375" y="448373"/>
                  </a:lnTo>
                  <a:lnTo>
                    <a:pt x="427837" y="416394"/>
                  </a:lnTo>
                  <a:lnTo>
                    <a:pt x="457365" y="377913"/>
                  </a:lnTo>
                  <a:lnTo>
                    <a:pt x="478815" y="334403"/>
                  </a:lnTo>
                  <a:lnTo>
                    <a:pt x="491363" y="287566"/>
                  </a:lnTo>
                  <a:lnTo>
                    <a:pt x="494538" y="255371"/>
                  </a:lnTo>
                  <a:lnTo>
                    <a:pt x="494538" y="247269"/>
                  </a:lnTo>
                  <a:lnTo>
                    <a:pt x="494538" y="239166"/>
                  </a:lnTo>
                  <a:lnTo>
                    <a:pt x="488213" y="191084"/>
                  </a:lnTo>
                  <a:lnTo>
                    <a:pt x="472617" y="145161"/>
                  </a:lnTo>
                  <a:lnTo>
                    <a:pt x="448373" y="103162"/>
                  </a:lnTo>
                  <a:lnTo>
                    <a:pt x="416394" y="66700"/>
                  </a:lnTo>
                  <a:lnTo>
                    <a:pt x="377913" y="37172"/>
                  </a:lnTo>
                  <a:lnTo>
                    <a:pt x="334416" y="15722"/>
                  </a:lnTo>
                  <a:lnTo>
                    <a:pt x="287566" y="3175"/>
                  </a:lnTo>
                  <a:lnTo>
                    <a:pt x="263448" y="393"/>
                  </a:lnTo>
                  <a:lnTo>
                    <a:pt x="255371" y="0"/>
                  </a:lnTo>
                  <a:close/>
                </a:path>
              </a:pathLst>
            </a:custGeom>
            <a:solidFill>
              <a:srgbClr val="F2B3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1289" y="3146712"/>
              <a:ext cx="193684" cy="231962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3079864" y="3641097"/>
            <a:ext cx="1726564" cy="14674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105" b="1">
                <a:solidFill>
                  <a:srgbClr val="FFFFFF"/>
                </a:solidFill>
                <a:latin typeface="Trebuchet MS"/>
                <a:cs typeface="Trebuchet MS"/>
              </a:rPr>
              <a:t>AST</a:t>
            </a:r>
            <a:r>
              <a:rPr dirty="0" sz="15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Extraction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4000"/>
              </a:lnSpc>
              <a:spcBef>
                <a:spcPts val="1170"/>
              </a:spcBef>
            </a:pP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Functions,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classes,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imports,</a:t>
            </a:r>
            <a:r>
              <a:rPr dirty="0" sz="1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parameters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parsed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directly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163311" y="2833116"/>
            <a:ext cx="2078989" cy="2481580"/>
            <a:chOff x="5163311" y="2833116"/>
            <a:chExt cx="2078989" cy="2481580"/>
          </a:xfrm>
        </p:grpSpPr>
        <p:sp>
          <p:nvSpPr>
            <p:cNvPr id="15" name="object 15" descr=""/>
            <p:cNvSpPr/>
            <p:nvPr/>
          </p:nvSpPr>
          <p:spPr>
            <a:xfrm>
              <a:off x="5171693" y="2841498"/>
              <a:ext cx="2062480" cy="2464435"/>
            </a:xfrm>
            <a:custGeom>
              <a:avLst/>
              <a:gdLst/>
              <a:ahLst/>
              <a:cxnLst/>
              <a:rect l="l" t="t" r="r" b="b"/>
              <a:pathLst>
                <a:path w="2062479" h="2464435">
                  <a:moveTo>
                    <a:pt x="1864639" y="0"/>
                  </a:moveTo>
                  <a:lnTo>
                    <a:pt x="197332" y="0"/>
                  </a:lnTo>
                  <a:lnTo>
                    <a:pt x="187640" y="236"/>
                  </a:lnTo>
                  <a:lnTo>
                    <a:pt x="149375" y="5914"/>
                  </a:lnTo>
                  <a:lnTo>
                    <a:pt x="112955" y="18950"/>
                  </a:lnTo>
                  <a:lnTo>
                    <a:pt x="79773" y="38839"/>
                  </a:lnTo>
                  <a:lnTo>
                    <a:pt x="51111" y="64817"/>
                  </a:lnTo>
                  <a:lnTo>
                    <a:pt x="28070" y="95895"/>
                  </a:lnTo>
                  <a:lnTo>
                    <a:pt x="11530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2266975"/>
                  </a:lnTo>
                  <a:lnTo>
                    <a:pt x="3784" y="2305469"/>
                  </a:lnTo>
                  <a:lnTo>
                    <a:pt x="15024" y="2342489"/>
                  </a:lnTo>
                  <a:lnTo>
                    <a:pt x="33261" y="2376601"/>
                  </a:lnTo>
                  <a:lnTo>
                    <a:pt x="57797" y="2406510"/>
                  </a:lnTo>
                  <a:lnTo>
                    <a:pt x="87706" y="2431046"/>
                  </a:lnTo>
                  <a:lnTo>
                    <a:pt x="121818" y="2449283"/>
                  </a:lnTo>
                  <a:lnTo>
                    <a:pt x="158838" y="2460510"/>
                  </a:lnTo>
                  <a:lnTo>
                    <a:pt x="197332" y="2464308"/>
                  </a:lnTo>
                  <a:lnTo>
                    <a:pt x="1864639" y="2464308"/>
                  </a:lnTo>
                  <a:lnTo>
                    <a:pt x="1903133" y="2460510"/>
                  </a:lnTo>
                  <a:lnTo>
                    <a:pt x="1940153" y="2449283"/>
                  </a:lnTo>
                  <a:lnTo>
                    <a:pt x="1974265" y="2431046"/>
                  </a:lnTo>
                  <a:lnTo>
                    <a:pt x="2004174" y="2406510"/>
                  </a:lnTo>
                  <a:lnTo>
                    <a:pt x="2028710" y="2376601"/>
                  </a:lnTo>
                  <a:lnTo>
                    <a:pt x="2046947" y="2342489"/>
                  </a:lnTo>
                  <a:lnTo>
                    <a:pt x="2058174" y="2305469"/>
                  </a:lnTo>
                  <a:lnTo>
                    <a:pt x="2061972" y="2266975"/>
                  </a:lnTo>
                  <a:lnTo>
                    <a:pt x="2061972" y="197332"/>
                  </a:lnTo>
                  <a:lnTo>
                    <a:pt x="2058174" y="158838"/>
                  </a:lnTo>
                  <a:lnTo>
                    <a:pt x="2046947" y="121818"/>
                  </a:lnTo>
                  <a:lnTo>
                    <a:pt x="2028710" y="87706"/>
                  </a:lnTo>
                  <a:lnTo>
                    <a:pt x="2004174" y="57797"/>
                  </a:lnTo>
                  <a:lnTo>
                    <a:pt x="1974265" y="33261"/>
                  </a:lnTo>
                  <a:lnTo>
                    <a:pt x="1940153" y="15024"/>
                  </a:lnTo>
                  <a:lnTo>
                    <a:pt x="1903133" y="3797"/>
                  </a:lnTo>
                  <a:lnTo>
                    <a:pt x="1864639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71693" y="2841498"/>
              <a:ext cx="2062480" cy="2464435"/>
            </a:xfrm>
            <a:custGeom>
              <a:avLst/>
              <a:gdLst/>
              <a:ahLst/>
              <a:cxnLst/>
              <a:rect l="l" t="t" r="r" b="b"/>
              <a:pathLst>
                <a:path w="2062479" h="2464435">
                  <a:moveTo>
                    <a:pt x="0" y="2266975"/>
                  </a:moveTo>
                  <a:lnTo>
                    <a:pt x="0" y="197332"/>
                  </a:lnTo>
                  <a:lnTo>
                    <a:pt x="237" y="187640"/>
                  </a:lnTo>
                  <a:lnTo>
                    <a:pt x="5914" y="149375"/>
                  </a:lnTo>
                  <a:lnTo>
                    <a:pt x="18950" y="112950"/>
                  </a:lnTo>
                  <a:lnTo>
                    <a:pt x="38839" y="79771"/>
                  </a:lnTo>
                  <a:lnTo>
                    <a:pt x="64822" y="51111"/>
                  </a:lnTo>
                  <a:lnTo>
                    <a:pt x="95897" y="28070"/>
                  </a:lnTo>
                  <a:lnTo>
                    <a:pt x="130867" y="11528"/>
                  </a:lnTo>
                  <a:lnTo>
                    <a:pt x="168395" y="2132"/>
                  </a:lnTo>
                  <a:lnTo>
                    <a:pt x="197332" y="0"/>
                  </a:lnTo>
                  <a:lnTo>
                    <a:pt x="1864639" y="0"/>
                  </a:lnTo>
                  <a:lnTo>
                    <a:pt x="1903133" y="3797"/>
                  </a:lnTo>
                  <a:lnTo>
                    <a:pt x="1940153" y="15024"/>
                  </a:lnTo>
                  <a:lnTo>
                    <a:pt x="1974265" y="33261"/>
                  </a:lnTo>
                  <a:lnTo>
                    <a:pt x="2004174" y="57797"/>
                  </a:lnTo>
                  <a:lnTo>
                    <a:pt x="2028710" y="87706"/>
                  </a:lnTo>
                  <a:lnTo>
                    <a:pt x="2046947" y="121818"/>
                  </a:lnTo>
                  <a:lnTo>
                    <a:pt x="2058174" y="158838"/>
                  </a:lnTo>
                  <a:lnTo>
                    <a:pt x="2061972" y="197332"/>
                  </a:lnTo>
                  <a:lnTo>
                    <a:pt x="2061972" y="2266975"/>
                  </a:lnTo>
                  <a:lnTo>
                    <a:pt x="2058174" y="2305469"/>
                  </a:lnTo>
                  <a:lnTo>
                    <a:pt x="2046947" y="2342489"/>
                  </a:lnTo>
                  <a:lnTo>
                    <a:pt x="2028710" y="2376601"/>
                  </a:lnTo>
                  <a:lnTo>
                    <a:pt x="2004174" y="2406510"/>
                  </a:lnTo>
                  <a:lnTo>
                    <a:pt x="1974265" y="2431046"/>
                  </a:lnTo>
                  <a:lnTo>
                    <a:pt x="1940153" y="2449283"/>
                  </a:lnTo>
                  <a:lnTo>
                    <a:pt x="1903133" y="2460510"/>
                  </a:lnTo>
                  <a:lnTo>
                    <a:pt x="1864639" y="2464308"/>
                  </a:lnTo>
                  <a:lnTo>
                    <a:pt x="197332" y="2464308"/>
                  </a:lnTo>
                  <a:lnTo>
                    <a:pt x="158838" y="2460510"/>
                  </a:lnTo>
                  <a:lnTo>
                    <a:pt x="121818" y="2449283"/>
                  </a:lnTo>
                  <a:lnTo>
                    <a:pt x="87706" y="2431046"/>
                  </a:lnTo>
                  <a:lnTo>
                    <a:pt x="57797" y="2406510"/>
                  </a:lnTo>
                  <a:lnTo>
                    <a:pt x="33261" y="2376601"/>
                  </a:lnTo>
                  <a:lnTo>
                    <a:pt x="15024" y="2342489"/>
                  </a:lnTo>
                  <a:lnTo>
                    <a:pt x="3784" y="2305469"/>
                  </a:lnTo>
                  <a:lnTo>
                    <a:pt x="0" y="2266975"/>
                  </a:lnTo>
                  <a:close/>
                </a:path>
              </a:pathLst>
            </a:custGeom>
            <a:ln w="16764">
              <a:solidFill>
                <a:srgbClr val="D741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39333" y="300913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4" h="494664">
                  <a:moveTo>
                    <a:pt x="255371" y="0"/>
                  </a:moveTo>
                  <a:lnTo>
                    <a:pt x="239166" y="0"/>
                  </a:lnTo>
                  <a:lnTo>
                    <a:pt x="231089" y="393"/>
                  </a:lnTo>
                  <a:lnTo>
                    <a:pt x="191084" y="6324"/>
                  </a:lnTo>
                  <a:lnTo>
                    <a:pt x="145161" y="21920"/>
                  </a:lnTo>
                  <a:lnTo>
                    <a:pt x="103162" y="46164"/>
                  </a:lnTo>
                  <a:lnTo>
                    <a:pt x="66700" y="78143"/>
                  </a:lnTo>
                  <a:lnTo>
                    <a:pt x="37172" y="116624"/>
                  </a:lnTo>
                  <a:lnTo>
                    <a:pt x="15722" y="160121"/>
                  </a:lnTo>
                  <a:lnTo>
                    <a:pt x="3175" y="206971"/>
                  </a:lnTo>
                  <a:lnTo>
                    <a:pt x="0" y="239166"/>
                  </a:lnTo>
                  <a:lnTo>
                    <a:pt x="0" y="255371"/>
                  </a:lnTo>
                  <a:lnTo>
                    <a:pt x="6324" y="303453"/>
                  </a:lnTo>
                  <a:lnTo>
                    <a:pt x="21920" y="349377"/>
                  </a:lnTo>
                  <a:lnTo>
                    <a:pt x="46164" y="391375"/>
                  </a:lnTo>
                  <a:lnTo>
                    <a:pt x="78143" y="427837"/>
                  </a:lnTo>
                  <a:lnTo>
                    <a:pt x="116624" y="457365"/>
                  </a:lnTo>
                  <a:lnTo>
                    <a:pt x="160121" y="478815"/>
                  </a:lnTo>
                  <a:lnTo>
                    <a:pt x="206971" y="491363"/>
                  </a:lnTo>
                  <a:lnTo>
                    <a:pt x="239166" y="494538"/>
                  </a:lnTo>
                  <a:lnTo>
                    <a:pt x="255371" y="494538"/>
                  </a:lnTo>
                  <a:lnTo>
                    <a:pt x="303453" y="488200"/>
                  </a:lnTo>
                  <a:lnTo>
                    <a:pt x="349377" y="472617"/>
                  </a:lnTo>
                  <a:lnTo>
                    <a:pt x="391375" y="448373"/>
                  </a:lnTo>
                  <a:lnTo>
                    <a:pt x="427837" y="416394"/>
                  </a:lnTo>
                  <a:lnTo>
                    <a:pt x="457365" y="377913"/>
                  </a:lnTo>
                  <a:lnTo>
                    <a:pt x="478815" y="334403"/>
                  </a:lnTo>
                  <a:lnTo>
                    <a:pt x="491363" y="287566"/>
                  </a:lnTo>
                  <a:lnTo>
                    <a:pt x="494538" y="255371"/>
                  </a:lnTo>
                  <a:lnTo>
                    <a:pt x="494538" y="247269"/>
                  </a:lnTo>
                  <a:lnTo>
                    <a:pt x="494538" y="239166"/>
                  </a:lnTo>
                  <a:lnTo>
                    <a:pt x="488200" y="191084"/>
                  </a:lnTo>
                  <a:lnTo>
                    <a:pt x="472617" y="145161"/>
                  </a:lnTo>
                  <a:lnTo>
                    <a:pt x="448360" y="103162"/>
                  </a:lnTo>
                  <a:lnTo>
                    <a:pt x="416382" y="66700"/>
                  </a:lnTo>
                  <a:lnTo>
                    <a:pt x="377913" y="37172"/>
                  </a:lnTo>
                  <a:lnTo>
                    <a:pt x="334416" y="15722"/>
                  </a:lnTo>
                  <a:lnTo>
                    <a:pt x="287566" y="3175"/>
                  </a:lnTo>
                  <a:lnTo>
                    <a:pt x="263448" y="393"/>
                  </a:lnTo>
                  <a:lnTo>
                    <a:pt x="255371" y="0"/>
                  </a:lnTo>
                  <a:close/>
                </a:path>
              </a:pathLst>
            </a:custGeom>
            <a:solidFill>
              <a:srgbClr val="D741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74550" y="3151632"/>
              <a:ext cx="220345" cy="222250"/>
            </a:xfrm>
            <a:custGeom>
              <a:avLst/>
              <a:gdLst/>
              <a:ahLst/>
              <a:cxnLst/>
              <a:rect l="l" t="t" r="r" b="b"/>
              <a:pathLst>
                <a:path w="220345" h="222250">
                  <a:moveTo>
                    <a:pt x="163906" y="24345"/>
                  </a:moveTo>
                  <a:lnTo>
                    <a:pt x="139496" y="25"/>
                  </a:lnTo>
                  <a:lnTo>
                    <a:pt x="133604" y="0"/>
                  </a:lnTo>
                </a:path>
                <a:path w="220345" h="222250">
                  <a:moveTo>
                    <a:pt x="24015" y="0"/>
                  </a:moveTo>
                  <a:lnTo>
                    <a:pt x="38" y="24053"/>
                  </a:lnTo>
                  <a:lnTo>
                    <a:pt x="0" y="29959"/>
                  </a:lnTo>
                </a:path>
                <a:path w="220345" h="222250">
                  <a:moveTo>
                    <a:pt x="12" y="198196"/>
                  </a:moveTo>
                  <a:lnTo>
                    <a:pt x="24638" y="222110"/>
                  </a:lnTo>
                  <a:lnTo>
                    <a:pt x="30962" y="222123"/>
                  </a:lnTo>
                </a:path>
                <a:path w="220345" h="222250">
                  <a:moveTo>
                    <a:pt x="140538" y="222123"/>
                  </a:moveTo>
                  <a:lnTo>
                    <a:pt x="163893" y="197827"/>
                  </a:lnTo>
                  <a:lnTo>
                    <a:pt x="163906" y="191922"/>
                  </a:lnTo>
                </a:path>
                <a:path w="220345" h="222250">
                  <a:moveTo>
                    <a:pt x="32893" y="89827"/>
                  </a:moveTo>
                  <a:lnTo>
                    <a:pt x="97802" y="89852"/>
                  </a:lnTo>
                </a:path>
                <a:path w="220345" h="222250">
                  <a:moveTo>
                    <a:pt x="219913" y="67792"/>
                  </a:moveTo>
                  <a:lnTo>
                    <a:pt x="152057" y="149466"/>
                  </a:lnTo>
                </a:path>
                <a:path w="220345" h="222250">
                  <a:moveTo>
                    <a:pt x="123342" y="115163"/>
                  </a:moveTo>
                  <a:lnTo>
                    <a:pt x="152057" y="149466"/>
                  </a:lnTo>
                </a:path>
                <a:path w="220345" h="222250">
                  <a:moveTo>
                    <a:pt x="163931" y="97751"/>
                  </a:moveTo>
                  <a:lnTo>
                    <a:pt x="163906" y="24345"/>
                  </a:lnTo>
                </a:path>
                <a:path w="220345" h="222250">
                  <a:moveTo>
                    <a:pt x="33197" y="46634"/>
                  </a:moveTo>
                  <a:lnTo>
                    <a:pt x="129222" y="46647"/>
                  </a:lnTo>
                </a:path>
                <a:path w="220345" h="222250">
                  <a:moveTo>
                    <a:pt x="33197" y="175399"/>
                  </a:moveTo>
                  <a:lnTo>
                    <a:pt x="98234" y="175399"/>
                  </a:lnTo>
                </a:path>
                <a:path w="220345" h="222250">
                  <a:moveTo>
                    <a:pt x="32943" y="132702"/>
                  </a:moveTo>
                  <a:lnTo>
                    <a:pt x="97497" y="132715"/>
                  </a:lnTo>
                </a:path>
                <a:path w="220345" h="222250">
                  <a:moveTo>
                    <a:pt x="133604" y="0"/>
                  </a:moveTo>
                  <a:lnTo>
                    <a:pt x="24015" y="0"/>
                  </a:lnTo>
                </a:path>
                <a:path w="220345" h="222250">
                  <a:moveTo>
                    <a:pt x="0" y="29959"/>
                  </a:moveTo>
                  <a:lnTo>
                    <a:pt x="12" y="198196"/>
                  </a:lnTo>
                </a:path>
                <a:path w="220345" h="222250">
                  <a:moveTo>
                    <a:pt x="30962" y="222123"/>
                  </a:moveTo>
                  <a:lnTo>
                    <a:pt x="140538" y="222123"/>
                  </a:lnTo>
                </a:path>
                <a:path w="220345" h="222250">
                  <a:moveTo>
                    <a:pt x="163906" y="191922"/>
                  </a:moveTo>
                  <a:lnTo>
                    <a:pt x="163944" y="165239"/>
                  </a:lnTo>
                </a:path>
              </a:pathLst>
            </a:custGeom>
            <a:ln w="99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327815" y="3641097"/>
            <a:ext cx="1701164" cy="1199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r>
              <a:rPr dirty="0" sz="15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Checks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3300"/>
              </a:lnSpc>
              <a:spcBef>
                <a:spcPts val="1185"/>
              </a:spcBef>
            </a:pP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Missing</a:t>
            </a:r>
            <a:r>
              <a:rPr dirty="0" sz="13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docstrings,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type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hints,</a:t>
            </a:r>
            <a:r>
              <a:rPr dirty="0" sz="13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structural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complexity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violations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409688" y="2833116"/>
            <a:ext cx="2078989" cy="2481580"/>
            <a:chOff x="7409688" y="2833116"/>
            <a:chExt cx="2078989" cy="2481580"/>
          </a:xfrm>
        </p:grpSpPr>
        <p:sp>
          <p:nvSpPr>
            <p:cNvPr id="21" name="object 21" descr=""/>
            <p:cNvSpPr/>
            <p:nvPr/>
          </p:nvSpPr>
          <p:spPr>
            <a:xfrm>
              <a:off x="7418070" y="2841498"/>
              <a:ext cx="2062480" cy="2464435"/>
            </a:xfrm>
            <a:custGeom>
              <a:avLst/>
              <a:gdLst/>
              <a:ahLst/>
              <a:cxnLst/>
              <a:rect l="l" t="t" r="r" b="b"/>
              <a:pathLst>
                <a:path w="2062479" h="2464435">
                  <a:moveTo>
                    <a:pt x="1864639" y="0"/>
                  </a:moveTo>
                  <a:lnTo>
                    <a:pt x="197332" y="0"/>
                  </a:lnTo>
                  <a:lnTo>
                    <a:pt x="187638" y="236"/>
                  </a:lnTo>
                  <a:lnTo>
                    <a:pt x="149373" y="5914"/>
                  </a:lnTo>
                  <a:lnTo>
                    <a:pt x="112950" y="18950"/>
                  </a:lnTo>
                  <a:lnTo>
                    <a:pt x="79766" y="38839"/>
                  </a:lnTo>
                  <a:lnTo>
                    <a:pt x="51113" y="64817"/>
                  </a:lnTo>
                  <a:lnTo>
                    <a:pt x="28070" y="95895"/>
                  </a:lnTo>
                  <a:lnTo>
                    <a:pt x="11530" y="130867"/>
                  </a:lnTo>
                  <a:lnTo>
                    <a:pt x="2132" y="168395"/>
                  </a:lnTo>
                  <a:lnTo>
                    <a:pt x="0" y="197332"/>
                  </a:lnTo>
                  <a:lnTo>
                    <a:pt x="0" y="2266975"/>
                  </a:lnTo>
                  <a:lnTo>
                    <a:pt x="3784" y="2305469"/>
                  </a:lnTo>
                  <a:lnTo>
                    <a:pt x="15024" y="2342489"/>
                  </a:lnTo>
                  <a:lnTo>
                    <a:pt x="33261" y="2376601"/>
                  </a:lnTo>
                  <a:lnTo>
                    <a:pt x="57797" y="2406510"/>
                  </a:lnTo>
                  <a:lnTo>
                    <a:pt x="87693" y="2431046"/>
                  </a:lnTo>
                  <a:lnTo>
                    <a:pt x="121818" y="2449283"/>
                  </a:lnTo>
                  <a:lnTo>
                    <a:pt x="158838" y="2460510"/>
                  </a:lnTo>
                  <a:lnTo>
                    <a:pt x="197332" y="2464308"/>
                  </a:lnTo>
                  <a:lnTo>
                    <a:pt x="1864639" y="2464308"/>
                  </a:lnTo>
                  <a:lnTo>
                    <a:pt x="1903133" y="2460510"/>
                  </a:lnTo>
                  <a:lnTo>
                    <a:pt x="1940153" y="2449283"/>
                  </a:lnTo>
                  <a:lnTo>
                    <a:pt x="1974265" y="2431046"/>
                  </a:lnTo>
                  <a:lnTo>
                    <a:pt x="2004174" y="2406510"/>
                  </a:lnTo>
                  <a:lnTo>
                    <a:pt x="2028710" y="2376601"/>
                  </a:lnTo>
                  <a:lnTo>
                    <a:pt x="2046947" y="2342489"/>
                  </a:lnTo>
                  <a:lnTo>
                    <a:pt x="2058174" y="2305469"/>
                  </a:lnTo>
                  <a:lnTo>
                    <a:pt x="2061972" y="2266975"/>
                  </a:lnTo>
                  <a:lnTo>
                    <a:pt x="2061972" y="197332"/>
                  </a:lnTo>
                  <a:lnTo>
                    <a:pt x="2058174" y="158838"/>
                  </a:lnTo>
                  <a:lnTo>
                    <a:pt x="2046947" y="121818"/>
                  </a:lnTo>
                  <a:lnTo>
                    <a:pt x="2028710" y="87706"/>
                  </a:lnTo>
                  <a:lnTo>
                    <a:pt x="2004174" y="57797"/>
                  </a:lnTo>
                  <a:lnTo>
                    <a:pt x="1974265" y="33261"/>
                  </a:lnTo>
                  <a:lnTo>
                    <a:pt x="1940153" y="15024"/>
                  </a:lnTo>
                  <a:lnTo>
                    <a:pt x="1903133" y="3797"/>
                  </a:lnTo>
                  <a:lnTo>
                    <a:pt x="1864639" y="0"/>
                  </a:lnTo>
                  <a:close/>
                </a:path>
              </a:pathLst>
            </a:custGeom>
            <a:solidFill>
              <a:srgbClr val="000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418070" y="2841498"/>
              <a:ext cx="2062480" cy="2464435"/>
            </a:xfrm>
            <a:custGeom>
              <a:avLst/>
              <a:gdLst/>
              <a:ahLst/>
              <a:cxnLst/>
              <a:rect l="l" t="t" r="r" b="b"/>
              <a:pathLst>
                <a:path w="2062479" h="2464435">
                  <a:moveTo>
                    <a:pt x="0" y="2266975"/>
                  </a:moveTo>
                  <a:lnTo>
                    <a:pt x="0" y="197332"/>
                  </a:lnTo>
                  <a:lnTo>
                    <a:pt x="237" y="187640"/>
                  </a:lnTo>
                  <a:lnTo>
                    <a:pt x="5914" y="149375"/>
                  </a:lnTo>
                  <a:lnTo>
                    <a:pt x="18950" y="112950"/>
                  </a:lnTo>
                  <a:lnTo>
                    <a:pt x="38845" y="79771"/>
                  </a:lnTo>
                  <a:lnTo>
                    <a:pt x="64817" y="51111"/>
                  </a:lnTo>
                  <a:lnTo>
                    <a:pt x="95890" y="28070"/>
                  </a:lnTo>
                  <a:lnTo>
                    <a:pt x="130862" y="11528"/>
                  </a:lnTo>
                  <a:lnTo>
                    <a:pt x="168389" y="2132"/>
                  </a:lnTo>
                  <a:lnTo>
                    <a:pt x="197332" y="0"/>
                  </a:lnTo>
                  <a:lnTo>
                    <a:pt x="1864639" y="0"/>
                  </a:lnTo>
                  <a:lnTo>
                    <a:pt x="1903133" y="3797"/>
                  </a:lnTo>
                  <a:lnTo>
                    <a:pt x="1940153" y="15024"/>
                  </a:lnTo>
                  <a:lnTo>
                    <a:pt x="1974265" y="33261"/>
                  </a:lnTo>
                  <a:lnTo>
                    <a:pt x="2004174" y="57797"/>
                  </a:lnTo>
                  <a:lnTo>
                    <a:pt x="2028710" y="87706"/>
                  </a:lnTo>
                  <a:lnTo>
                    <a:pt x="2046947" y="121818"/>
                  </a:lnTo>
                  <a:lnTo>
                    <a:pt x="2058174" y="158838"/>
                  </a:lnTo>
                  <a:lnTo>
                    <a:pt x="2061972" y="197332"/>
                  </a:lnTo>
                  <a:lnTo>
                    <a:pt x="2061972" y="2266975"/>
                  </a:lnTo>
                  <a:lnTo>
                    <a:pt x="2058174" y="2305469"/>
                  </a:lnTo>
                  <a:lnTo>
                    <a:pt x="2046947" y="2342489"/>
                  </a:lnTo>
                  <a:lnTo>
                    <a:pt x="2028710" y="2376601"/>
                  </a:lnTo>
                  <a:lnTo>
                    <a:pt x="2004174" y="2406510"/>
                  </a:lnTo>
                  <a:lnTo>
                    <a:pt x="1974265" y="2431046"/>
                  </a:lnTo>
                  <a:lnTo>
                    <a:pt x="1940153" y="2449283"/>
                  </a:lnTo>
                  <a:lnTo>
                    <a:pt x="1903133" y="2460510"/>
                  </a:lnTo>
                  <a:lnTo>
                    <a:pt x="1864639" y="2464308"/>
                  </a:lnTo>
                  <a:lnTo>
                    <a:pt x="197332" y="2464308"/>
                  </a:lnTo>
                  <a:lnTo>
                    <a:pt x="158838" y="2460510"/>
                  </a:lnTo>
                  <a:lnTo>
                    <a:pt x="121818" y="2449283"/>
                  </a:lnTo>
                  <a:lnTo>
                    <a:pt x="87693" y="2431046"/>
                  </a:lnTo>
                  <a:lnTo>
                    <a:pt x="57797" y="2406510"/>
                  </a:lnTo>
                  <a:lnTo>
                    <a:pt x="33261" y="2376601"/>
                  </a:lnTo>
                  <a:lnTo>
                    <a:pt x="15024" y="2342489"/>
                  </a:lnTo>
                  <a:lnTo>
                    <a:pt x="3784" y="2305469"/>
                  </a:lnTo>
                  <a:lnTo>
                    <a:pt x="0" y="2266975"/>
                  </a:lnTo>
                  <a:close/>
                </a:path>
              </a:pathLst>
            </a:custGeom>
            <a:ln w="16764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585710" y="3009138"/>
              <a:ext cx="494665" cy="494665"/>
            </a:xfrm>
            <a:custGeom>
              <a:avLst/>
              <a:gdLst/>
              <a:ahLst/>
              <a:cxnLst/>
              <a:rect l="l" t="t" r="r" b="b"/>
              <a:pathLst>
                <a:path w="494665" h="494664">
                  <a:moveTo>
                    <a:pt x="255371" y="0"/>
                  </a:moveTo>
                  <a:lnTo>
                    <a:pt x="239166" y="0"/>
                  </a:lnTo>
                  <a:lnTo>
                    <a:pt x="231089" y="393"/>
                  </a:lnTo>
                  <a:lnTo>
                    <a:pt x="191084" y="6324"/>
                  </a:lnTo>
                  <a:lnTo>
                    <a:pt x="145161" y="21920"/>
                  </a:lnTo>
                  <a:lnTo>
                    <a:pt x="103162" y="46164"/>
                  </a:lnTo>
                  <a:lnTo>
                    <a:pt x="66700" y="78143"/>
                  </a:lnTo>
                  <a:lnTo>
                    <a:pt x="37172" y="116624"/>
                  </a:lnTo>
                  <a:lnTo>
                    <a:pt x="15722" y="160121"/>
                  </a:lnTo>
                  <a:lnTo>
                    <a:pt x="3175" y="206971"/>
                  </a:lnTo>
                  <a:lnTo>
                    <a:pt x="0" y="239166"/>
                  </a:lnTo>
                  <a:lnTo>
                    <a:pt x="0" y="255371"/>
                  </a:lnTo>
                  <a:lnTo>
                    <a:pt x="6324" y="303453"/>
                  </a:lnTo>
                  <a:lnTo>
                    <a:pt x="21920" y="349377"/>
                  </a:lnTo>
                  <a:lnTo>
                    <a:pt x="46177" y="391375"/>
                  </a:lnTo>
                  <a:lnTo>
                    <a:pt x="78155" y="427837"/>
                  </a:lnTo>
                  <a:lnTo>
                    <a:pt x="116624" y="457365"/>
                  </a:lnTo>
                  <a:lnTo>
                    <a:pt x="160121" y="478815"/>
                  </a:lnTo>
                  <a:lnTo>
                    <a:pt x="206971" y="491363"/>
                  </a:lnTo>
                  <a:lnTo>
                    <a:pt x="239166" y="494538"/>
                  </a:lnTo>
                  <a:lnTo>
                    <a:pt x="255371" y="494538"/>
                  </a:lnTo>
                  <a:lnTo>
                    <a:pt x="303453" y="488200"/>
                  </a:lnTo>
                  <a:lnTo>
                    <a:pt x="349377" y="472617"/>
                  </a:lnTo>
                  <a:lnTo>
                    <a:pt x="391375" y="448373"/>
                  </a:lnTo>
                  <a:lnTo>
                    <a:pt x="427837" y="416394"/>
                  </a:lnTo>
                  <a:lnTo>
                    <a:pt x="457365" y="377913"/>
                  </a:lnTo>
                  <a:lnTo>
                    <a:pt x="478815" y="334403"/>
                  </a:lnTo>
                  <a:lnTo>
                    <a:pt x="491363" y="287566"/>
                  </a:lnTo>
                  <a:lnTo>
                    <a:pt x="494538" y="255371"/>
                  </a:lnTo>
                  <a:lnTo>
                    <a:pt x="494538" y="247269"/>
                  </a:lnTo>
                  <a:lnTo>
                    <a:pt x="494538" y="239166"/>
                  </a:lnTo>
                  <a:lnTo>
                    <a:pt x="488200" y="191084"/>
                  </a:lnTo>
                  <a:lnTo>
                    <a:pt x="472617" y="145161"/>
                  </a:lnTo>
                  <a:lnTo>
                    <a:pt x="448360" y="103162"/>
                  </a:lnTo>
                  <a:lnTo>
                    <a:pt x="416382" y="66700"/>
                  </a:lnTo>
                  <a:lnTo>
                    <a:pt x="377913" y="37172"/>
                  </a:lnTo>
                  <a:lnTo>
                    <a:pt x="334416" y="15722"/>
                  </a:lnTo>
                  <a:lnTo>
                    <a:pt x="287566" y="3175"/>
                  </a:lnTo>
                  <a:lnTo>
                    <a:pt x="263448" y="393"/>
                  </a:lnTo>
                  <a:lnTo>
                    <a:pt x="255371" y="0"/>
                  </a:lnTo>
                  <a:close/>
                </a:path>
              </a:pathLst>
            </a:custGeom>
            <a:solidFill>
              <a:srgbClr val="DD78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3761" y="3146770"/>
              <a:ext cx="231080" cy="232071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575753" y="3641097"/>
            <a:ext cx="1578610" cy="14674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15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Metrics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4000"/>
              </a:lnSpc>
              <a:spcBef>
                <a:spcPts val="1170"/>
              </a:spcBef>
            </a:pP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Function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length,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parameter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counts,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300" spc="-35">
                <a:solidFill>
                  <a:srgbClr val="FFFFFF"/>
                </a:solidFill>
                <a:latin typeface="Verdana"/>
                <a:cs typeface="Verdana"/>
              </a:rPr>
              <a:t>maintainability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indicators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898597" y="5451737"/>
            <a:ext cx="6125845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200"/>
              </a:lnSpc>
              <a:spcBef>
                <a:spcPts val="100"/>
              </a:spcBef>
            </a:pP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Deterministic,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rule-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driven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validation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ensures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consistent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baseline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quality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all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code 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submissions.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355" y="1030985"/>
            <a:ext cx="1433830" cy="310515"/>
            <a:chOff x="578355" y="1030985"/>
            <a:chExt cx="1433830" cy="310515"/>
          </a:xfrm>
        </p:grpSpPr>
        <p:sp>
          <p:nvSpPr>
            <p:cNvPr id="3" name="object 3" descr=""/>
            <p:cNvSpPr/>
            <p:nvPr/>
          </p:nvSpPr>
          <p:spPr>
            <a:xfrm>
              <a:off x="578355" y="1030985"/>
              <a:ext cx="1433830" cy="310515"/>
            </a:xfrm>
            <a:custGeom>
              <a:avLst/>
              <a:gdLst/>
              <a:ahLst/>
              <a:cxnLst/>
              <a:rect l="l" t="t" r="r" b="b"/>
              <a:pathLst>
                <a:path w="1433830" h="310515">
                  <a:moveTo>
                    <a:pt x="1278257" y="0"/>
                  </a:moveTo>
                  <a:lnTo>
                    <a:pt x="155069" y="0"/>
                  </a:lnTo>
                  <a:lnTo>
                    <a:pt x="147452" y="185"/>
                  </a:lnTo>
                  <a:lnTo>
                    <a:pt x="102835" y="9060"/>
                  </a:lnTo>
                  <a:lnTo>
                    <a:pt x="62688" y="30520"/>
                  </a:lnTo>
                  <a:lnTo>
                    <a:pt x="30521" y="62683"/>
                  </a:lnTo>
                  <a:lnTo>
                    <a:pt x="9062" y="102836"/>
                  </a:lnTo>
                  <a:lnTo>
                    <a:pt x="186" y="147447"/>
                  </a:lnTo>
                  <a:lnTo>
                    <a:pt x="0" y="155067"/>
                  </a:lnTo>
                  <a:lnTo>
                    <a:pt x="186" y="162687"/>
                  </a:lnTo>
                  <a:lnTo>
                    <a:pt x="9062" y="207296"/>
                  </a:lnTo>
                  <a:lnTo>
                    <a:pt x="30521" y="247445"/>
                  </a:lnTo>
                  <a:lnTo>
                    <a:pt x="62688" y="279613"/>
                  </a:lnTo>
                  <a:lnTo>
                    <a:pt x="102835" y="301073"/>
                  </a:lnTo>
                  <a:lnTo>
                    <a:pt x="147452" y="309948"/>
                  </a:lnTo>
                  <a:lnTo>
                    <a:pt x="155069" y="310134"/>
                  </a:lnTo>
                  <a:lnTo>
                    <a:pt x="1278257" y="310134"/>
                  </a:lnTo>
                  <a:lnTo>
                    <a:pt x="1323271" y="303456"/>
                  </a:lnTo>
                  <a:lnTo>
                    <a:pt x="1364401" y="283997"/>
                  </a:lnTo>
                  <a:lnTo>
                    <a:pt x="1398129" y="253441"/>
                  </a:lnTo>
                  <a:lnTo>
                    <a:pt x="1421526" y="214401"/>
                  </a:lnTo>
                  <a:lnTo>
                    <a:pt x="1432580" y="170268"/>
                  </a:lnTo>
                  <a:lnTo>
                    <a:pt x="1433324" y="155067"/>
                  </a:lnTo>
                  <a:lnTo>
                    <a:pt x="1433138" y="147447"/>
                  </a:lnTo>
                  <a:lnTo>
                    <a:pt x="1424264" y="102836"/>
                  </a:lnTo>
                  <a:lnTo>
                    <a:pt x="1402804" y="62683"/>
                  </a:lnTo>
                  <a:lnTo>
                    <a:pt x="1370635" y="30520"/>
                  </a:lnTo>
                  <a:lnTo>
                    <a:pt x="1330492" y="9060"/>
                  </a:lnTo>
                  <a:lnTo>
                    <a:pt x="1285877" y="185"/>
                  </a:lnTo>
                  <a:lnTo>
                    <a:pt x="1278257" y="0"/>
                  </a:lnTo>
                  <a:close/>
                </a:path>
              </a:pathLst>
            </a:custGeom>
            <a:solidFill>
              <a:srgbClr val="48320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609" y="1121211"/>
              <a:ext cx="137540" cy="13561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59288" y="1087856"/>
            <a:ext cx="107061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11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dirty="0" sz="10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65">
                <a:solidFill>
                  <a:srgbClr val="FFFFFF"/>
                </a:solidFill>
                <a:latin typeface="Verdana"/>
                <a:cs typeface="Verdana"/>
              </a:rPr>
              <a:t>ENHANCEMENT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25"/>
              <a:t>AI</a:t>
            </a:r>
            <a:r>
              <a:rPr dirty="0" spc="-145"/>
              <a:t> </a:t>
            </a:r>
            <a:r>
              <a:rPr dirty="0" spc="-20"/>
              <a:t>Review</a:t>
            </a:r>
            <a:r>
              <a:rPr dirty="0" spc="-140"/>
              <a:t> </a:t>
            </a:r>
            <a:r>
              <a:rPr dirty="0" spc="-10"/>
              <a:t>Engine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3299" y="2479185"/>
            <a:ext cx="5909310" cy="986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80" b="1">
                <a:solidFill>
                  <a:srgbClr val="FFFFFF"/>
                </a:solidFill>
                <a:latin typeface="Trebuchet MS"/>
                <a:cs typeface="Trebuchet MS"/>
              </a:rPr>
              <a:t>LLM-</a:t>
            </a: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Powered</a:t>
            </a:r>
            <a:r>
              <a:rPr dirty="0" sz="18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Contextual</a:t>
            </a:r>
            <a:r>
              <a:rPr dirty="0" sz="18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31200"/>
              </a:lnSpc>
              <a:spcBef>
                <a:spcPts val="1290"/>
              </a:spcBef>
            </a:pP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65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engine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goes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beyond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pattern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matching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understand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intent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provide 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human-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like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Verdana"/>
                <a:cs typeface="Verdana"/>
              </a:rPr>
              <a:t>reasoning.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9554" y="2321814"/>
            <a:ext cx="2388869" cy="1332737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561592" y="4031741"/>
            <a:ext cx="2120900" cy="2254885"/>
            <a:chOff x="561592" y="4031741"/>
            <a:chExt cx="2120900" cy="2254885"/>
          </a:xfrm>
        </p:grpSpPr>
        <p:sp>
          <p:nvSpPr>
            <p:cNvPr id="10" name="object 10" descr=""/>
            <p:cNvSpPr/>
            <p:nvPr/>
          </p:nvSpPr>
          <p:spPr>
            <a:xfrm>
              <a:off x="578355" y="4040123"/>
              <a:ext cx="2095500" cy="2238375"/>
            </a:xfrm>
            <a:custGeom>
              <a:avLst/>
              <a:gdLst/>
              <a:ahLst/>
              <a:cxnLst/>
              <a:rect l="l" t="t" r="r" b="b"/>
              <a:pathLst>
                <a:path w="2095500" h="2238375">
                  <a:moveTo>
                    <a:pt x="1898169" y="0"/>
                  </a:moveTo>
                  <a:lnTo>
                    <a:pt x="62656" y="0"/>
                  </a:lnTo>
                  <a:lnTo>
                    <a:pt x="58296" y="381"/>
                  </a:lnTo>
                  <a:lnTo>
                    <a:pt x="22755" y="14465"/>
                  </a:lnTo>
                  <a:lnTo>
                    <a:pt x="431" y="51003"/>
                  </a:lnTo>
                  <a:lnTo>
                    <a:pt x="0" y="54825"/>
                  </a:lnTo>
                  <a:lnTo>
                    <a:pt x="0" y="2179320"/>
                  </a:lnTo>
                  <a:lnTo>
                    <a:pt x="0" y="2183168"/>
                  </a:lnTo>
                  <a:lnTo>
                    <a:pt x="16530" y="2218080"/>
                  </a:lnTo>
                  <a:lnTo>
                    <a:pt x="58296" y="2237613"/>
                  </a:lnTo>
                  <a:lnTo>
                    <a:pt x="62656" y="2237994"/>
                  </a:lnTo>
                  <a:lnTo>
                    <a:pt x="1898169" y="2237994"/>
                  </a:lnTo>
                  <a:lnTo>
                    <a:pt x="1936663" y="2234196"/>
                  </a:lnTo>
                  <a:lnTo>
                    <a:pt x="1973684" y="2222969"/>
                  </a:lnTo>
                  <a:lnTo>
                    <a:pt x="2007796" y="2204732"/>
                  </a:lnTo>
                  <a:lnTo>
                    <a:pt x="2037704" y="2180196"/>
                  </a:lnTo>
                  <a:lnTo>
                    <a:pt x="2062241" y="2150287"/>
                  </a:lnTo>
                  <a:lnTo>
                    <a:pt x="2080478" y="2116175"/>
                  </a:lnTo>
                  <a:lnTo>
                    <a:pt x="2091705" y="2079155"/>
                  </a:lnTo>
                  <a:lnTo>
                    <a:pt x="2095502" y="2040661"/>
                  </a:lnTo>
                  <a:lnTo>
                    <a:pt x="2095502" y="197332"/>
                  </a:lnTo>
                  <a:lnTo>
                    <a:pt x="2091705" y="158838"/>
                  </a:lnTo>
                  <a:lnTo>
                    <a:pt x="2080478" y="121818"/>
                  </a:lnTo>
                  <a:lnTo>
                    <a:pt x="2062241" y="87706"/>
                  </a:lnTo>
                  <a:lnTo>
                    <a:pt x="2037704" y="57797"/>
                  </a:lnTo>
                  <a:lnTo>
                    <a:pt x="2007796" y="33261"/>
                  </a:lnTo>
                  <a:lnTo>
                    <a:pt x="1973684" y="15024"/>
                  </a:lnTo>
                  <a:lnTo>
                    <a:pt x="1936663" y="3784"/>
                  </a:lnTo>
                  <a:lnTo>
                    <a:pt x="1907861" y="237"/>
                  </a:lnTo>
                  <a:lnTo>
                    <a:pt x="1898169" y="0"/>
                  </a:lnTo>
                  <a:close/>
                </a:path>
              </a:pathLst>
            </a:custGeom>
            <a:solidFill>
              <a:srgbClr val="00002E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1581" y="4031741"/>
              <a:ext cx="2120900" cy="2254885"/>
            </a:xfrm>
            <a:custGeom>
              <a:avLst/>
              <a:gdLst/>
              <a:ahLst/>
              <a:cxnLst/>
              <a:rect l="l" t="t" r="r" b="b"/>
              <a:pathLst>
                <a:path w="2120900" h="2254885">
                  <a:moveTo>
                    <a:pt x="2120646" y="205727"/>
                  </a:moveTo>
                  <a:lnTo>
                    <a:pt x="2116696" y="165595"/>
                  </a:lnTo>
                  <a:lnTo>
                    <a:pt x="2104986" y="127000"/>
                  </a:lnTo>
                  <a:lnTo>
                    <a:pt x="2103882" y="124510"/>
                  </a:lnTo>
                  <a:lnTo>
                    <a:pt x="2103882" y="205727"/>
                  </a:lnTo>
                  <a:lnTo>
                    <a:pt x="2103882" y="2049056"/>
                  </a:lnTo>
                  <a:lnTo>
                    <a:pt x="2095792" y="2103818"/>
                  </a:lnTo>
                  <a:lnTo>
                    <a:pt x="2072068" y="2154047"/>
                  </a:lnTo>
                  <a:lnTo>
                    <a:pt x="2034743" y="2195182"/>
                  </a:lnTo>
                  <a:lnTo>
                    <a:pt x="1987232" y="2223617"/>
                  </a:lnTo>
                  <a:lnTo>
                    <a:pt x="1933549" y="2237105"/>
                  </a:lnTo>
                  <a:lnTo>
                    <a:pt x="1914931" y="2238006"/>
                  </a:lnTo>
                  <a:lnTo>
                    <a:pt x="83820" y="2238006"/>
                  </a:lnTo>
                  <a:lnTo>
                    <a:pt x="77216" y="2237765"/>
                  </a:lnTo>
                  <a:lnTo>
                    <a:pt x="71272" y="2237105"/>
                  </a:lnTo>
                  <a:lnTo>
                    <a:pt x="71056" y="2237105"/>
                  </a:lnTo>
                  <a:lnTo>
                    <a:pt x="67068" y="2236355"/>
                  </a:lnTo>
                  <a:lnTo>
                    <a:pt x="67068" y="18427"/>
                  </a:lnTo>
                  <a:lnTo>
                    <a:pt x="70142" y="17843"/>
                  </a:lnTo>
                  <a:lnTo>
                    <a:pt x="69723" y="17843"/>
                  </a:lnTo>
                  <a:lnTo>
                    <a:pt x="77216" y="17005"/>
                  </a:lnTo>
                  <a:lnTo>
                    <a:pt x="83820" y="16776"/>
                  </a:lnTo>
                  <a:lnTo>
                    <a:pt x="1914931" y="16776"/>
                  </a:lnTo>
                  <a:lnTo>
                    <a:pt x="1937067" y="17843"/>
                  </a:lnTo>
                  <a:lnTo>
                    <a:pt x="1934946" y="17843"/>
                  </a:lnTo>
                  <a:lnTo>
                    <a:pt x="1951812" y="20358"/>
                  </a:lnTo>
                  <a:lnTo>
                    <a:pt x="2004098" y="39103"/>
                  </a:lnTo>
                  <a:lnTo>
                    <a:pt x="2048535" y="72110"/>
                  </a:lnTo>
                  <a:lnTo>
                    <a:pt x="2081555" y="116560"/>
                  </a:lnTo>
                  <a:lnTo>
                    <a:pt x="2100287" y="168846"/>
                  </a:lnTo>
                  <a:lnTo>
                    <a:pt x="2103882" y="205727"/>
                  </a:lnTo>
                  <a:lnTo>
                    <a:pt x="2103882" y="124510"/>
                  </a:lnTo>
                  <a:lnTo>
                    <a:pt x="2080158" y="83172"/>
                  </a:lnTo>
                  <a:lnTo>
                    <a:pt x="2060803" y="60693"/>
                  </a:lnTo>
                  <a:lnTo>
                    <a:pt x="2060397" y="60261"/>
                  </a:lnTo>
                  <a:lnTo>
                    <a:pt x="2053082" y="53289"/>
                  </a:lnTo>
                  <a:lnTo>
                    <a:pt x="2020684" y="29273"/>
                  </a:lnTo>
                  <a:lnTo>
                    <a:pt x="1984222" y="12026"/>
                  </a:lnTo>
                  <a:lnTo>
                    <a:pt x="1945106" y="2235"/>
                  </a:lnTo>
                  <a:lnTo>
                    <a:pt x="1926018" y="330"/>
                  </a:lnTo>
                  <a:lnTo>
                    <a:pt x="1927961" y="330"/>
                  </a:lnTo>
                  <a:lnTo>
                    <a:pt x="1914931" y="12"/>
                  </a:lnTo>
                  <a:lnTo>
                    <a:pt x="83820" y="12"/>
                  </a:lnTo>
                  <a:lnTo>
                    <a:pt x="77216" y="330"/>
                  </a:lnTo>
                  <a:lnTo>
                    <a:pt x="70739" y="1282"/>
                  </a:lnTo>
                  <a:lnTo>
                    <a:pt x="67068" y="2209"/>
                  </a:lnTo>
                  <a:lnTo>
                    <a:pt x="67068" y="0"/>
                  </a:lnTo>
                  <a:lnTo>
                    <a:pt x="62661" y="0"/>
                  </a:lnTo>
                  <a:lnTo>
                    <a:pt x="58293" y="431"/>
                  </a:lnTo>
                  <a:lnTo>
                    <a:pt x="22758" y="16522"/>
                  </a:lnTo>
                  <a:lnTo>
                    <a:pt x="2159" y="49657"/>
                  </a:lnTo>
                  <a:lnTo>
                    <a:pt x="0" y="62649"/>
                  </a:lnTo>
                  <a:lnTo>
                    <a:pt x="0" y="2187702"/>
                  </a:lnTo>
                  <a:lnTo>
                    <a:pt x="0" y="2192109"/>
                  </a:lnTo>
                  <a:lnTo>
                    <a:pt x="13754" y="2228621"/>
                  </a:lnTo>
                  <a:lnTo>
                    <a:pt x="45466" y="2251329"/>
                  </a:lnTo>
                  <a:lnTo>
                    <a:pt x="62661" y="2254758"/>
                  </a:lnTo>
                  <a:lnTo>
                    <a:pt x="67068" y="2254758"/>
                  </a:lnTo>
                  <a:lnTo>
                    <a:pt x="67068" y="2252573"/>
                  </a:lnTo>
                  <a:lnTo>
                    <a:pt x="70739" y="2253488"/>
                  </a:lnTo>
                  <a:lnTo>
                    <a:pt x="77711" y="2254516"/>
                  </a:lnTo>
                  <a:lnTo>
                    <a:pt x="78701" y="2254516"/>
                  </a:lnTo>
                  <a:lnTo>
                    <a:pt x="83820" y="2254770"/>
                  </a:lnTo>
                  <a:lnTo>
                    <a:pt x="1914931" y="2254770"/>
                  </a:lnTo>
                  <a:lnTo>
                    <a:pt x="1925040" y="2254516"/>
                  </a:lnTo>
                  <a:lnTo>
                    <a:pt x="1964931" y="2248598"/>
                  </a:lnTo>
                  <a:lnTo>
                    <a:pt x="2002624" y="2235136"/>
                  </a:lnTo>
                  <a:lnTo>
                    <a:pt x="2037486" y="2214270"/>
                  </a:lnTo>
                  <a:lnTo>
                    <a:pt x="2067369" y="2187194"/>
                  </a:lnTo>
                  <a:lnTo>
                    <a:pt x="2091385" y="2154796"/>
                  </a:lnTo>
                  <a:lnTo>
                    <a:pt x="2108631" y="2118334"/>
                  </a:lnTo>
                  <a:lnTo>
                    <a:pt x="2118423" y="2079218"/>
                  </a:lnTo>
                  <a:lnTo>
                    <a:pt x="2120646" y="2049056"/>
                  </a:lnTo>
                  <a:lnTo>
                    <a:pt x="2120646" y="205727"/>
                  </a:lnTo>
                  <a:close/>
                </a:path>
              </a:pathLst>
            </a:custGeom>
            <a:solidFill>
              <a:srgbClr val="F2B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94851" y="4177545"/>
            <a:ext cx="1705610" cy="16433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2069">
              <a:lnSpc>
                <a:spcPct val="106300"/>
              </a:lnSpc>
              <a:spcBef>
                <a:spcPts val="10"/>
              </a:spcBef>
            </a:pP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Refactoring Recommendations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2600"/>
              </a:lnSpc>
              <a:spcBef>
                <a:spcPts val="730"/>
              </a:spcBef>
            </a:pPr>
            <a:r>
              <a:rPr dirty="0" sz="1300" spc="-145">
                <a:solidFill>
                  <a:srgbClr val="FFFFFF"/>
                </a:solidFill>
                <a:latin typeface="Verdana"/>
                <a:cs typeface="Verdana"/>
              </a:rPr>
              <a:t>Suggests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architectural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improvements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patterns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best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practices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824733" y="4031741"/>
            <a:ext cx="2120900" cy="2254885"/>
            <a:chOff x="2824733" y="4031741"/>
            <a:chExt cx="2120900" cy="2254885"/>
          </a:xfrm>
        </p:grpSpPr>
        <p:sp>
          <p:nvSpPr>
            <p:cNvPr id="14" name="object 14" descr=""/>
            <p:cNvSpPr/>
            <p:nvPr/>
          </p:nvSpPr>
          <p:spPr>
            <a:xfrm>
              <a:off x="2841497" y="4040123"/>
              <a:ext cx="2095500" cy="2238375"/>
            </a:xfrm>
            <a:custGeom>
              <a:avLst/>
              <a:gdLst/>
              <a:ahLst/>
              <a:cxnLst/>
              <a:rect l="l" t="t" r="r" b="b"/>
              <a:pathLst>
                <a:path w="2095500" h="2238375">
                  <a:moveTo>
                    <a:pt x="1898167" y="0"/>
                  </a:moveTo>
                  <a:lnTo>
                    <a:pt x="62649" y="0"/>
                  </a:lnTo>
                  <a:lnTo>
                    <a:pt x="58293" y="381"/>
                  </a:lnTo>
                  <a:lnTo>
                    <a:pt x="22758" y="14465"/>
                  </a:lnTo>
                  <a:lnTo>
                    <a:pt x="431" y="51003"/>
                  </a:lnTo>
                  <a:lnTo>
                    <a:pt x="0" y="54825"/>
                  </a:lnTo>
                  <a:lnTo>
                    <a:pt x="0" y="2179320"/>
                  </a:lnTo>
                  <a:lnTo>
                    <a:pt x="0" y="2183168"/>
                  </a:lnTo>
                  <a:lnTo>
                    <a:pt x="16522" y="2218080"/>
                  </a:lnTo>
                  <a:lnTo>
                    <a:pt x="58293" y="2237613"/>
                  </a:lnTo>
                  <a:lnTo>
                    <a:pt x="62649" y="2237994"/>
                  </a:lnTo>
                  <a:lnTo>
                    <a:pt x="1898167" y="2237994"/>
                  </a:lnTo>
                  <a:lnTo>
                    <a:pt x="1936661" y="2234196"/>
                  </a:lnTo>
                  <a:lnTo>
                    <a:pt x="1973681" y="2222969"/>
                  </a:lnTo>
                  <a:lnTo>
                    <a:pt x="2007793" y="2204732"/>
                  </a:lnTo>
                  <a:lnTo>
                    <a:pt x="2037702" y="2180196"/>
                  </a:lnTo>
                  <a:lnTo>
                    <a:pt x="2062238" y="2150287"/>
                  </a:lnTo>
                  <a:lnTo>
                    <a:pt x="2080475" y="2116175"/>
                  </a:lnTo>
                  <a:lnTo>
                    <a:pt x="2091702" y="2079155"/>
                  </a:lnTo>
                  <a:lnTo>
                    <a:pt x="2095500" y="2040661"/>
                  </a:lnTo>
                  <a:lnTo>
                    <a:pt x="2095500" y="197332"/>
                  </a:lnTo>
                  <a:lnTo>
                    <a:pt x="2091702" y="158838"/>
                  </a:lnTo>
                  <a:lnTo>
                    <a:pt x="2080475" y="121818"/>
                  </a:lnTo>
                  <a:lnTo>
                    <a:pt x="2062238" y="87706"/>
                  </a:lnTo>
                  <a:lnTo>
                    <a:pt x="2037702" y="57797"/>
                  </a:lnTo>
                  <a:lnTo>
                    <a:pt x="2007793" y="33261"/>
                  </a:lnTo>
                  <a:lnTo>
                    <a:pt x="1973681" y="15024"/>
                  </a:lnTo>
                  <a:lnTo>
                    <a:pt x="1936661" y="3784"/>
                  </a:lnTo>
                  <a:lnTo>
                    <a:pt x="1907859" y="237"/>
                  </a:lnTo>
                  <a:lnTo>
                    <a:pt x="1898167" y="0"/>
                  </a:lnTo>
                  <a:close/>
                </a:path>
              </a:pathLst>
            </a:custGeom>
            <a:solidFill>
              <a:srgbClr val="00002E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824721" y="4031741"/>
              <a:ext cx="2120900" cy="2254885"/>
            </a:xfrm>
            <a:custGeom>
              <a:avLst/>
              <a:gdLst/>
              <a:ahLst/>
              <a:cxnLst/>
              <a:rect l="l" t="t" r="r" b="b"/>
              <a:pathLst>
                <a:path w="2120900" h="2254885">
                  <a:moveTo>
                    <a:pt x="2120646" y="205727"/>
                  </a:moveTo>
                  <a:lnTo>
                    <a:pt x="2116696" y="165595"/>
                  </a:lnTo>
                  <a:lnTo>
                    <a:pt x="2104986" y="127000"/>
                  </a:lnTo>
                  <a:lnTo>
                    <a:pt x="2103882" y="124510"/>
                  </a:lnTo>
                  <a:lnTo>
                    <a:pt x="2103882" y="205727"/>
                  </a:lnTo>
                  <a:lnTo>
                    <a:pt x="2103882" y="2049056"/>
                  </a:lnTo>
                  <a:lnTo>
                    <a:pt x="2095792" y="2103818"/>
                  </a:lnTo>
                  <a:lnTo>
                    <a:pt x="2072068" y="2154047"/>
                  </a:lnTo>
                  <a:lnTo>
                    <a:pt x="2034743" y="2195182"/>
                  </a:lnTo>
                  <a:lnTo>
                    <a:pt x="1987232" y="2223617"/>
                  </a:lnTo>
                  <a:lnTo>
                    <a:pt x="1933549" y="2237105"/>
                  </a:lnTo>
                  <a:lnTo>
                    <a:pt x="1914931" y="2238006"/>
                  </a:lnTo>
                  <a:lnTo>
                    <a:pt x="83820" y="2238006"/>
                  </a:lnTo>
                  <a:lnTo>
                    <a:pt x="77216" y="2237765"/>
                  </a:lnTo>
                  <a:lnTo>
                    <a:pt x="71272" y="2237105"/>
                  </a:lnTo>
                  <a:lnTo>
                    <a:pt x="71056" y="2237105"/>
                  </a:lnTo>
                  <a:lnTo>
                    <a:pt x="67068" y="2236355"/>
                  </a:lnTo>
                  <a:lnTo>
                    <a:pt x="67068" y="18427"/>
                  </a:lnTo>
                  <a:lnTo>
                    <a:pt x="70142" y="17843"/>
                  </a:lnTo>
                  <a:lnTo>
                    <a:pt x="69710" y="17843"/>
                  </a:lnTo>
                  <a:lnTo>
                    <a:pt x="77216" y="17005"/>
                  </a:lnTo>
                  <a:lnTo>
                    <a:pt x="83820" y="16776"/>
                  </a:lnTo>
                  <a:lnTo>
                    <a:pt x="1914931" y="16776"/>
                  </a:lnTo>
                  <a:lnTo>
                    <a:pt x="1937067" y="17843"/>
                  </a:lnTo>
                  <a:lnTo>
                    <a:pt x="1934946" y="17843"/>
                  </a:lnTo>
                  <a:lnTo>
                    <a:pt x="1951812" y="20358"/>
                  </a:lnTo>
                  <a:lnTo>
                    <a:pt x="2004098" y="39103"/>
                  </a:lnTo>
                  <a:lnTo>
                    <a:pt x="2048535" y="72110"/>
                  </a:lnTo>
                  <a:lnTo>
                    <a:pt x="2081555" y="116560"/>
                  </a:lnTo>
                  <a:lnTo>
                    <a:pt x="2100287" y="168846"/>
                  </a:lnTo>
                  <a:lnTo>
                    <a:pt x="2103882" y="205727"/>
                  </a:lnTo>
                  <a:lnTo>
                    <a:pt x="2103882" y="124510"/>
                  </a:lnTo>
                  <a:lnTo>
                    <a:pt x="2080158" y="83172"/>
                  </a:lnTo>
                  <a:lnTo>
                    <a:pt x="2060803" y="60693"/>
                  </a:lnTo>
                  <a:lnTo>
                    <a:pt x="2060397" y="60261"/>
                  </a:lnTo>
                  <a:lnTo>
                    <a:pt x="2053082" y="53289"/>
                  </a:lnTo>
                  <a:lnTo>
                    <a:pt x="2020684" y="29273"/>
                  </a:lnTo>
                  <a:lnTo>
                    <a:pt x="1984222" y="12026"/>
                  </a:lnTo>
                  <a:lnTo>
                    <a:pt x="1945106" y="2235"/>
                  </a:lnTo>
                  <a:lnTo>
                    <a:pt x="1926018" y="330"/>
                  </a:lnTo>
                  <a:lnTo>
                    <a:pt x="1927961" y="330"/>
                  </a:lnTo>
                  <a:lnTo>
                    <a:pt x="1914931" y="12"/>
                  </a:lnTo>
                  <a:lnTo>
                    <a:pt x="83820" y="12"/>
                  </a:lnTo>
                  <a:lnTo>
                    <a:pt x="77216" y="330"/>
                  </a:lnTo>
                  <a:lnTo>
                    <a:pt x="70739" y="1282"/>
                  </a:lnTo>
                  <a:lnTo>
                    <a:pt x="67068" y="2209"/>
                  </a:lnTo>
                  <a:lnTo>
                    <a:pt x="67068" y="0"/>
                  </a:lnTo>
                  <a:lnTo>
                    <a:pt x="62661" y="0"/>
                  </a:lnTo>
                  <a:lnTo>
                    <a:pt x="58305" y="431"/>
                  </a:lnTo>
                  <a:lnTo>
                    <a:pt x="22771" y="16522"/>
                  </a:lnTo>
                  <a:lnTo>
                    <a:pt x="2159" y="49657"/>
                  </a:lnTo>
                  <a:lnTo>
                    <a:pt x="0" y="62649"/>
                  </a:lnTo>
                  <a:lnTo>
                    <a:pt x="0" y="2187702"/>
                  </a:lnTo>
                  <a:lnTo>
                    <a:pt x="0" y="2192109"/>
                  </a:lnTo>
                  <a:lnTo>
                    <a:pt x="13754" y="2228621"/>
                  </a:lnTo>
                  <a:lnTo>
                    <a:pt x="45478" y="2251329"/>
                  </a:lnTo>
                  <a:lnTo>
                    <a:pt x="62661" y="2254758"/>
                  </a:lnTo>
                  <a:lnTo>
                    <a:pt x="67068" y="2254758"/>
                  </a:lnTo>
                  <a:lnTo>
                    <a:pt x="67068" y="2252573"/>
                  </a:lnTo>
                  <a:lnTo>
                    <a:pt x="70739" y="2253488"/>
                  </a:lnTo>
                  <a:lnTo>
                    <a:pt x="77711" y="2254516"/>
                  </a:lnTo>
                  <a:lnTo>
                    <a:pt x="78701" y="2254516"/>
                  </a:lnTo>
                  <a:lnTo>
                    <a:pt x="83820" y="2254770"/>
                  </a:lnTo>
                  <a:lnTo>
                    <a:pt x="1914931" y="2254770"/>
                  </a:lnTo>
                  <a:lnTo>
                    <a:pt x="1925040" y="2254516"/>
                  </a:lnTo>
                  <a:lnTo>
                    <a:pt x="1964931" y="2248598"/>
                  </a:lnTo>
                  <a:lnTo>
                    <a:pt x="2002624" y="2235136"/>
                  </a:lnTo>
                  <a:lnTo>
                    <a:pt x="2037486" y="2214270"/>
                  </a:lnTo>
                  <a:lnTo>
                    <a:pt x="2067369" y="2187194"/>
                  </a:lnTo>
                  <a:lnTo>
                    <a:pt x="2091385" y="2154796"/>
                  </a:lnTo>
                  <a:lnTo>
                    <a:pt x="2108631" y="2118334"/>
                  </a:lnTo>
                  <a:lnTo>
                    <a:pt x="2118423" y="2079218"/>
                  </a:lnTo>
                  <a:lnTo>
                    <a:pt x="2120646" y="2049056"/>
                  </a:lnTo>
                  <a:lnTo>
                    <a:pt x="2120646" y="205727"/>
                  </a:lnTo>
                  <a:close/>
                </a:path>
              </a:pathLst>
            </a:custGeom>
            <a:solidFill>
              <a:srgbClr val="D741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62579" y="4177545"/>
            <a:ext cx="1704339" cy="16433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391795">
              <a:lnSpc>
                <a:spcPct val="106300"/>
              </a:lnSpc>
              <a:spcBef>
                <a:spcPts val="10"/>
              </a:spcBef>
            </a:pP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Readability Enhancements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2600"/>
              </a:lnSpc>
              <a:spcBef>
                <a:spcPts val="730"/>
              </a:spcBef>
            </a:pP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Identifies</a:t>
            </a:r>
            <a:r>
              <a:rPr dirty="0" sz="13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complex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logic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could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benefit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clearer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structure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naming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096255" y="4031741"/>
            <a:ext cx="2120900" cy="2254885"/>
            <a:chOff x="5096255" y="4031741"/>
            <a:chExt cx="2120900" cy="2254885"/>
          </a:xfrm>
        </p:grpSpPr>
        <p:sp>
          <p:nvSpPr>
            <p:cNvPr id="18" name="object 18" descr=""/>
            <p:cNvSpPr/>
            <p:nvPr/>
          </p:nvSpPr>
          <p:spPr>
            <a:xfrm>
              <a:off x="5113019" y="4040123"/>
              <a:ext cx="2095500" cy="2238375"/>
            </a:xfrm>
            <a:custGeom>
              <a:avLst/>
              <a:gdLst/>
              <a:ahLst/>
              <a:cxnLst/>
              <a:rect l="l" t="t" r="r" b="b"/>
              <a:pathLst>
                <a:path w="2095500" h="2238375">
                  <a:moveTo>
                    <a:pt x="1898167" y="0"/>
                  </a:moveTo>
                  <a:lnTo>
                    <a:pt x="62649" y="0"/>
                  </a:lnTo>
                  <a:lnTo>
                    <a:pt x="58293" y="381"/>
                  </a:lnTo>
                  <a:lnTo>
                    <a:pt x="22758" y="14465"/>
                  </a:lnTo>
                  <a:lnTo>
                    <a:pt x="431" y="51003"/>
                  </a:lnTo>
                  <a:lnTo>
                    <a:pt x="0" y="54825"/>
                  </a:lnTo>
                  <a:lnTo>
                    <a:pt x="0" y="2179320"/>
                  </a:lnTo>
                  <a:lnTo>
                    <a:pt x="0" y="2183168"/>
                  </a:lnTo>
                  <a:lnTo>
                    <a:pt x="16522" y="2218080"/>
                  </a:lnTo>
                  <a:lnTo>
                    <a:pt x="58293" y="2237613"/>
                  </a:lnTo>
                  <a:lnTo>
                    <a:pt x="62649" y="2237994"/>
                  </a:lnTo>
                  <a:lnTo>
                    <a:pt x="1898167" y="2237994"/>
                  </a:lnTo>
                  <a:lnTo>
                    <a:pt x="1936661" y="2234196"/>
                  </a:lnTo>
                  <a:lnTo>
                    <a:pt x="1973681" y="2222969"/>
                  </a:lnTo>
                  <a:lnTo>
                    <a:pt x="2007793" y="2204732"/>
                  </a:lnTo>
                  <a:lnTo>
                    <a:pt x="2037702" y="2180196"/>
                  </a:lnTo>
                  <a:lnTo>
                    <a:pt x="2062238" y="2150287"/>
                  </a:lnTo>
                  <a:lnTo>
                    <a:pt x="2080475" y="2116175"/>
                  </a:lnTo>
                  <a:lnTo>
                    <a:pt x="2091715" y="2079155"/>
                  </a:lnTo>
                  <a:lnTo>
                    <a:pt x="2095500" y="2040661"/>
                  </a:lnTo>
                  <a:lnTo>
                    <a:pt x="2095500" y="197332"/>
                  </a:lnTo>
                  <a:lnTo>
                    <a:pt x="2091715" y="158838"/>
                  </a:lnTo>
                  <a:lnTo>
                    <a:pt x="2080475" y="121818"/>
                  </a:lnTo>
                  <a:lnTo>
                    <a:pt x="2062238" y="87706"/>
                  </a:lnTo>
                  <a:lnTo>
                    <a:pt x="2037702" y="57797"/>
                  </a:lnTo>
                  <a:lnTo>
                    <a:pt x="2007793" y="33261"/>
                  </a:lnTo>
                  <a:lnTo>
                    <a:pt x="1973681" y="15024"/>
                  </a:lnTo>
                  <a:lnTo>
                    <a:pt x="1936661" y="3784"/>
                  </a:lnTo>
                  <a:lnTo>
                    <a:pt x="1907859" y="237"/>
                  </a:lnTo>
                  <a:lnTo>
                    <a:pt x="1898167" y="0"/>
                  </a:lnTo>
                  <a:close/>
                </a:path>
              </a:pathLst>
            </a:custGeom>
            <a:solidFill>
              <a:srgbClr val="00002E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096256" y="4031741"/>
              <a:ext cx="2120900" cy="2254885"/>
            </a:xfrm>
            <a:custGeom>
              <a:avLst/>
              <a:gdLst/>
              <a:ahLst/>
              <a:cxnLst/>
              <a:rect l="l" t="t" r="r" b="b"/>
              <a:pathLst>
                <a:path w="2120900" h="2254885">
                  <a:moveTo>
                    <a:pt x="2120633" y="205727"/>
                  </a:moveTo>
                  <a:lnTo>
                    <a:pt x="2116683" y="165595"/>
                  </a:lnTo>
                  <a:lnTo>
                    <a:pt x="2104974" y="127000"/>
                  </a:lnTo>
                  <a:lnTo>
                    <a:pt x="2103869" y="124510"/>
                  </a:lnTo>
                  <a:lnTo>
                    <a:pt x="2103869" y="205727"/>
                  </a:lnTo>
                  <a:lnTo>
                    <a:pt x="2103869" y="2049056"/>
                  </a:lnTo>
                  <a:lnTo>
                    <a:pt x="2095779" y="2103818"/>
                  </a:lnTo>
                  <a:lnTo>
                    <a:pt x="2072055" y="2154047"/>
                  </a:lnTo>
                  <a:lnTo>
                    <a:pt x="2034730" y="2195182"/>
                  </a:lnTo>
                  <a:lnTo>
                    <a:pt x="1987219" y="2223617"/>
                  </a:lnTo>
                  <a:lnTo>
                    <a:pt x="1933536" y="2237105"/>
                  </a:lnTo>
                  <a:lnTo>
                    <a:pt x="1914918" y="2238006"/>
                  </a:lnTo>
                  <a:lnTo>
                    <a:pt x="83807" y="2238006"/>
                  </a:lnTo>
                  <a:lnTo>
                    <a:pt x="77203" y="2237765"/>
                  </a:lnTo>
                  <a:lnTo>
                    <a:pt x="71259" y="2237105"/>
                  </a:lnTo>
                  <a:lnTo>
                    <a:pt x="71043" y="2237105"/>
                  </a:lnTo>
                  <a:lnTo>
                    <a:pt x="67056" y="2236355"/>
                  </a:lnTo>
                  <a:lnTo>
                    <a:pt x="67056" y="18427"/>
                  </a:lnTo>
                  <a:lnTo>
                    <a:pt x="70129" y="17843"/>
                  </a:lnTo>
                  <a:lnTo>
                    <a:pt x="69697" y="17843"/>
                  </a:lnTo>
                  <a:lnTo>
                    <a:pt x="77203" y="17005"/>
                  </a:lnTo>
                  <a:lnTo>
                    <a:pt x="83807" y="16776"/>
                  </a:lnTo>
                  <a:lnTo>
                    <a:pt x="1914918" y="16776"/>
                  </a:lnTo>
                  <a:lnTo>
                    <a:pt x="1937042" y="17843"/>
                  </a:lnTo>
                  <a:lnTo>
                    <a:pt x="1934921" y="17843"/>
                  </a:lnTo>
                  <a:lnTo>
                    <a:pt x="1951786" y="20358"/>
                  </a:lnTo>
                  <a:lnTo>
                    <a:pt x="2004085" y="39103"/>
                  </a:lnTo>
                  <a:lnTo>
                    <a:pt x="2048522" y="72110"/>
                  </a:lnTo>
                  <a:lnTo>
                    <a:pt x="2081530" y="116560"/>
                  </a:lnTo>
                  <a:lnTo>
                    <a:pt x="2100275" y="168846"/>
                  </a:lnTo>
                  <a:lnTo>
                    <a:pt x="2103869" y="205727"/>
                  </a:lnTo>
                  <a:lnTo>
                    <a:pt x="2103869" y="124510"/>
                  </a:lnTo>
                  <a:lnTo>
                    <a:pt x="2080145" y="83172"/>
                  </a:lnTo>
                  <a:lnTo>
                    <a:pt x="2060790" y="60693"/>
                  </a:lnTo>
                  <a:lnTo>
                    <a:pt x="2029206" y="34683"/>
                  </a:lnTo>
                  <a:lnTo>
                    <a:pt x="1993646" y="15671"/>
                  </a:lnTo>
                  <a:lnTo>
                    <a:pt x="1955050" y="3962"/>
                  </a:lnTo>
                  <a:lnTo>
                    <a:pt x="1926005" y="330"/>
                  </a:lnTo>
                  <a:lnTo>
                    <a:pt x="1927948" y="330"/>
                  </a:lnTo>
                  <a:lnTo>
                    <a:pt x="1914918" y="12"/>
                  </a:lnTo>
                  <a:lnTo>
                    <a:pt x="83807" y="12"/>
                  </a:lnTo>
                  <a:lnTo>
                    <a:pt x="77203" y="330"/>
                  </a:lnTo>
                  <a:lnTo>
                    <a:pt x="70726" y="1282"/>
                  </a:lnTo>
                  <a:lnTo>
                    <a:pt x="67056" y="2209"/>
                  </a:lnTo>
                  <a:lnTo>
                    <a:pt x="67056" y="0"/>
                  </a:lnTo>
                  <a:lnTo>
                    <a:pt x="62649" y="0"/>
                  </a:lnTo>
                  <a:lnTo>
                    <a:pt x="58293" y="431"/>
                  </a:lnTo>
                  <a:lnTo>
                    <a:pt x="22745" y="16522"/>
                  </a:lnTo>
                  <a:lnTo>
                    <a:pt x="2146" y="49657"/>
                  </a:lnTo>
                  <a:lnTo>
                    <a:pt x="0" y="62649"/>
                  </a:lnTo>
                  <a:lnTo>
                    <a:pt x="0" y="2187702"/>
                  </a:lnTo>
                  <a:lnTo>
                    <a:pt x="0" y="2192109"/>
                  </a:lnTo>
                  <a:lnTo>
                    <a:pt x="13754" y="2228621"/>
                  </a:lnTo>
                  <a:lnTo>
                    <a:pt x="45466" y="2251329"/>
                  </a:lnTo>
                  <a:lnTo>
                    <a:pt x="62649" y="2254758"/>
                  </a:lnTo>
                  <a:lnTo>
                    <a:pt x="67056" y="2254758"/>
                  </a:lnTo>
                  <a:lnTo>
                    <a:pt x="67056" y="2252573"/>
                  </a:lnTo>
                  <a:lnTo>
                    <a:pt x="70726" y="2253488"/>
                  </a:lnTo>
                  <a:lnTo>
                    <a:pt x="77698" y="2254516"/>
                  </a:lnTo>
                  <a:lnTo>
                    <a:pt x="78689" y="2254516"/>
                  </a:lnTo>
                  <a:lnTo>
                    <a:pt x="83807" y="2254770"/>
                  </a:lnTo>
                  <a:lnTo>
                    <a:pt x="1914918" y="2254770"/>
                  </a:lnTo>
                  <a:lnTo>
                    <a:pt x="1925027" y="2254516"/>
                  </a:lnTo>
                  <a:lnTo>
                    <a:pt x="1964918" y="2248598"/>
                  </a:lnTo>
                  <a:lnTo>
                    <a:pt x="2002624" y="2235136"/>
                  </a:lnTo>
                  <a:lnTo>
                    <a:pt x="2037473" y="2214270"/>
                  </a:lnTo>
                  <a:lnTo>
                    <a:pt x="2060790" y="2194077"/>
                  </a:lnTo>
                  <a:lnTo>
                    <a:pt x="2067356" y="2187194"/>
                  </a:lnTo>
                  <a:lnTo>
                    <a:pt x="2091372" y="2154796"/>
                  </a:lnTo>
                  <a:lnTo>
                    <a:pt x="2108619" y="2118334"/>
                  </a:lnTo>
                  <a:lnTo>
                    <a:pt x="2118410" y="2079218"/>
                  </a:lnTo>
                  <a:lnTo>
                    <a:pt x="2120633" y="2049056"/>
                  </a:lnTo>
                  <a:lnTo>
                    <a:pt x="2120633" y="205727"/>
                  </a:lnTo>
                  <a:close/>
                </a:path>
              </a:pathLst>
            </a:custGeom>
            <a:solidFill>
              <a:srgbClr val="DD7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330304" y="4177545"/>
            <a:ext cx="1525270" cy="16433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373380">
              <a:lnSpc>
                <a:spcPct val="106300"/>
              </a:lnSpc>
              <a:spcBef>
                <a:spcPts val="10"/>
              </a:spcBef>
            </a:pP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Logical </a:t>
            </a:r>
            <a:r>
              <a:rPr dirty="0" sz="1500" spc="-25" b="1">
                <a:solidFill>
                  <a:srgbClr val="FFFFFF"/>
                </a:solidFill>
                <a:latin typeface="Trebuchet MS"/>
                <a:cs typeface="Trebuchet MS"/>
              </a:rPr>
              <a:t>Optimization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2600"/>
              </a:lnSpc>
              <a:spcBef>
                <a:spcPts val="730"/>
              </a:spcBef>
            </a:pP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Detects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inefficiencies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proposes 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performance 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improvements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59395" y="4031741"/>
            <a:ext cx="2120900" cy="2254885"/>
            <a:chOff x="7359395" y="4031741"/>
            <a:chExt cx="2120900" cy="2254885"/>
          </a:xfrm>
        </p:grpSpPr>
        <p:sp>
          <p:nvSpPr>
            <p:cNvPr id="22" name="object 22" descr=""/>
            <p:cNvSpPr/>
            <p:nvPr/>
          </p:nvSpPr>
          <p:spPr>
            <a:xfrm>
              <a:off x="7376159" y="4040123"/>
              <a:ext cx="2095500" cy="2238375"/>
            </a:xfrm>
            <a:custGeom>
              <a:avLst/>
              <a:gdLst/>
              <a:ahLst/>
              <a:cxnLst/>
              <a:rect l="l" t="t" r="r" b="b"/>
              <a:pathLst>
                <a:path w="2095500" h="2238375">
                  <a:moveTo>
                    <a:pt x="1898167" y="0"/>
                  </a:moveTo>
                  <a:lnTo>
                    <a:pt x="62649" y="0"/>
                  </a:lnTo>
                  <a:lnTo>
                    <a:pt x="58293" y="381"/>
                  </a:lnTo>
                  <a:lnTo>
                    <a:pt x="22745" y="14465"/>
                  </a:lnTo>
                  <a:lnTo>
                    <a:pt x="431" y="51003"/>
                  </a:lnTo>
                  <a:lnTo>
                    <a:pt x="0" y="54825"/>
                  </a:lnTo>
                  <a:lnTo>
                    <a:pt x="0" y="2179320"/>
                  </a:lnTo>
                  <a:lnTo>
                    <a:pt x="0" y="2183168"/>
                  </a:lnTo>
                  <a:lnTo>
                    <a:pt x="16522" y="2218080"/>
                  </a:lnTo>
                  <a:lnTo>
                    <a:pt x="58293" y="2237613"/>
                  </a:lnTo>
                  <a:lnTo>
                    <a:pt x="62649" y="2237994"/>
                  </a:lnTo>
                  <a:lnTo>
                    <a:pt x="1898167" y="2237994"/>
                  </a:lnTo>
                  <a:lnTo>
                    <a:pt x="1936661" y="2234196"/>
                  </a:lnTo>
                  <a:lnTo>
                    <a:pt x="1973681" y="2222969"/>
                  </a:lnTo>
                  <a:lnTo>
                    <a:pt x="2007793" y="2204732"/>
                  </a:lnTo>
                  <a:lnTo>
                    <a:pt x="2037702" y="2180196"/>
                  </a:lnTo>
                  <a:lnTo>
                    <a:pt x="2062238" y="2150287"/>
                  </a:lnTo>
                  <a:lnTo>
                    <a:pt x="2080475" y="2116175"/>
                  </a:lnTo>
                  <a:lnTo>
                    <a:pt x="2091702" y="2079155"/>
                  </a:lnTo>
                  <a:lnTo>
                    <a:pt x="2095500" y="2040661"/>
                  </a:lnTo>
                  <a:lnTo>
                    <a:pt x="2095500" y="197332"/>
                  </a:lnTo>
                  <a:lnTo>
                    <a:pt x="2091702" y="158838"/>
                  </a:lnTo>
                  <a:lnTo>
                    <a:pt x="2080475" y="121818"/>
                  </a:lnTo>
                  <a:lnTo>
                    <a:pt x="2062238" y="87706"/>
                  </a:lnTo>
                  <a:lnTo>
                    <a:pt x="2037702" y="57797"/>
                  </a:lnTo>
                  <a:lnTo>
                    <a:pt x="2007793" y="33261"/>
                  </a:lnTo>
                  <a:lnTo>
                    <a:pt x="1973681" y="15024"/>
                  </a:lnTo>
                  <a:lnTo>
                    <a:pt x="1936661" y="3784"/>
                  </a:lnTo>
                  <a:lnTo>
                    <a:pt x="1907859" y="237"/>
                  </a:lnTo>
                  <a:lnTo>
                    <a:pt x="1898167" y="0"/>
                  </a:lnTo>
                  <a:close/>
                </a:path>
              </a:pathLst>
            </a:custGeom>
            <a:solidFill>
              <a:srgbClr val="00002E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59395" y="4031741"/>
              <a:ext cx="2120900" cy="2254885"/>
            </a:xfrm>
            <a:custGeom>
              <a:avLst/>
              <a:gdLst/>
              <a:ahLst/>
              <a:cxnLst/>
              <a:rect l="l" t="t" r="r" b="b"/>
              <a:pathLst>
                <a:path w="2120900" h="2254885">
                  <a:moveTo>
                    <a:pt x="2120633" y="205727"/>
                  </a:moveTo>
                  <a:lnTo>
                    <a:pt x="2116671" y="165595"/>
                  </a:lnTo>
                  <a:lnTo>
                    <a:pt x="2104974" y="127000"/>
                  </a:lnTo>
                  <a:lnTo>
                    <a:pt x="2103869" y="124510"/>
                  </a:lnTo>
                  <a:lnTo>
                    <a:pt x="2103869" y="205727"/>
                  </a:lnTo>
                  <a:lnTo>
                    <a:pt x="2103869" y="2049056"/>
                  </a:lnTo>
                  <a:lnTo>
                    <a:pt x="2095779" y="2103818"/>
                  </a:lnTo>
                  <a:lnTo>
                    <a:pt x="2072055" y="2154047"/>
                  </a:lnTo>
                  <a:lnTo>
                    <a:pt x="2034730" y="2195182"/>
                  </a:lnTo>
                  <a:lnTo>
                    <a:pt x="1987219" y="2223617"/>
                  </a:lnTo>
                  <a:lnTo>
                    <a:pt x="1933536" y="2237105"/>
                  </a:lnTo>
                  <a:lnTo>
                    <a:pt x="1914918" y="2238006"/>
                  </a:lnTo>
                  <a:lnTo>
                    <a:pt x="83807" y="2238006"/>
                  </a:lnTo>
                  <a:lnTo>
                    <a:pt x="77203" y="2237765"/>
                  </a:lnTo>
                  <a:lnTo>
                    <a:pt x="71259" y="2237105"/>
                  </a:lnTo>
                  <a:lnTo>
                    <a:pt x="71043" y="2237105"/>
                  </a:lnTo>
                  <a:lnTo>
                    <a:pt x="67056" y="2236355"/>
                  </a:lnTo>
                  <a:lnTo>
                    <a:pt x="67056" y="18427"/>
                  </a:lnTo>
                  <a:lnTo>
                    <a:pt x="70129" y="17843"/>
                  </a:lnTo>
                  <a:lnTo>
                    <a:pt x="69697" y="17843"/>
                  </a:lnTo>
                  <a:lnTo>
                    <a:pt x="77203" y="17005"/>
                  </a:lnTo>
                  <a:lnTo>
                    <a:pt x="83807" y="16776"/>
                  </a:lnTo>
                  <a:lnTo>
                    <a:pt x="1914918" y="16776"/>
                  </a:lnTo>
                  <a:lnTo>
                    <a:pt x="1937042" y="17843"/>
                  </a:lnTo>
                  <a:lnTo>
                    <a:pt x="1934921" y="17843"/>
                  </a:lnTo>
                  <a:lnTo>
                    <a:pt x="1951786" y="20358"/>
                  </a:lnTo>
                  <a:lnTo>
                    <a:pt x="2004085" y="39103"/>
                  </a:lnTo>
                  <a:lnTo>
                    <a:pt x="2048522" y="72110"/>
                  </a:lnTo>
                  <a:lnTo>
                    <a:pt x="2081530" y="116560"/>
                  </a:lnTo>
                  <a:lnTo>
                    <a:pt x="2100275" y="168846"/>
                  </a:lnTo>
                  <a:lnTo>
                    <a:pt x="2103869" y="205727"/>
                  </a:lnTo>
                  <a:lnTo>
                    <a:pt x="2103869" y="124510"/>
                  </a:lnTo>
                  <a:lnTo>
                    <a:pt x="2080145" y="83172"/>
                  </a:lnTo>
                  <a:lnTo>
                    <a:pt x="2060790" y="60693"/>
                  </a:lnTo>
                  <a:lnTo>
                    <a:pt x="2029206" y="34683"/>
                  </a:lnTo>
                  <a:lnTo>
                    <a:pt x="1993646" y="15671"/>
                  </a:lnTo>
                  <a:lnTo>
                    <a:pt x="1955050" y="3962"/>
                  </a:lnTo>
                  <a:lnTo>
                    <a:pt x="1925993" y="330"/>
                  </a:lnTo>
                  <a:lnTo>
                    <a:pt x="1927948" y="330"/>
                  </a:lnTo>
                  <a:lnTo>
                    <a:pt x="1914918" y="12"/>
                  </a:lnTo>
                  <a:lnTo>
                    <a:pt x="83807" y="12"/>
                  </a:lnTo>
                  <a:lnTo>
                    <a:pt x="77203" y="330"/>
                  </a:lnTo>
                  <a:lnTo>
                    <a:pt x="70726" y="1282"/>
                  </a:lnTo>
                  <a:lnTo>
                    <a:pt x="67056" y="2209"/>
                  </a:lnTo>
                  <a:lnTo>
                    <a:pt x="67056" y="0"/>
                  </a:lnTo>
                  <a:lnTo>
                    <a:pt x="62649" y="0"/>
                  </a:lnTo>
                  <a:lnTo>
                    <a:pt x="58293" y="431"/>
                  </a:lnTo>
                  <a:lnTo>
                    <a:pt x="22745" y="16522"/>
                  </a:lnTo>
                  <a:lnTo>
                    <a:pt x="2146" y="49657"/>
                  </a:lnTo>
                  <a:lnTo>
                    <a:pt x="0" y="62649"/>
                  </a:lnTo>
                  <a:lnTo>
                    <a:pt x="0" y="2187702"/>
                  </a:lnTo>
                  <a:lnTo>
                    <a:pt x="0" y="2192109"/>
                  </a:lnTo>
                  <a:lnTo>
                    <a:pt x="13754" y="2228621"/>
                  </a:lnTo>
                  <a:lnTo>
                    <a:pt x="45466" y="2251329"/>
                  </a:lnTo>
                  <a:lnTo>
                    <a:pt x="62649" y="2254758"/>
                  </a:lnTo>
                  <a:lnTo>
                    <a:pt x="67056" y="2254758"/>
                  </a:lnTo>
                  <a:lnTo>
                    <a:pt x="67056" y="2252573"/>
                  </a:lnTo>
                  <a:lnTo>
                    <a:pt x="70726" y="2253488"/>
                  </a:lnTo>
                  <a:lnTo>
                    <a:pt x="77698" y="2254516"/>
                  </a:lnTo>
                  <a:lnTo>
                    <a:pt x="78689" y="2254516"/>
                  </a:lnTo>
                  <a:lnTo>
                    <a:pt x="83807" y="2254770"/>
                  </a:lnTo>
                  <a:lnTo>
                    <a:pt x="1914918" y="2254770"/>
                  </a:lnTo>
                  <a:lnTo>
                    <a:pt x="1925027" y="2254516"/>
                  </a:lnTo>
                  <a:lnTo>
                    <a:pt x="1964918" y="2248598"/>
                  </a:lnTo>
                  <a:lnTo>
                    <a:pt x="2002612" y="2235136"/>
                  </a:lnTo>
                  <a:lnTo>
                    <a:pt x="2037473" y="2214270"/>
                  </a:lnTo>
                  <a:lnTo>
                    <a:pt x="2060790" y="2194077"/>
                  </a:lnTo>
                  <a:lnTo>
                    <a:pt x="2067356" y="2187194"/>
                  </a:lnTo>
                  <a:lnTo>
                    <a:pt x="2091372" y="2154796"/>
                  </a:lnTo>
                  <a:lnTo>
                    <a:pt x="2108619" y="2118334"/>
                  </a:lnTo>
                  <a:lnTo>
                    <a:pt x="2118410" y="2079218"/>
                  </a:lnTo>
                  <a:lnTo>
                    <a:pt x="2120633" y="2049056"/>
                  </a:lnTo>
                  <a:lnTo>
                    <a:pt x="2120633" y="205727"/>
                  </a:lnTo>
                  <a:close/>
                </a:path>
              </a:pathLst>
            </a:custGeom>
            <a:solidFill>
              <a:srgbClr val="48A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598029" y="4177545"/>
            <a:ext cx="1642745" cy="190309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38735">
              <a:lnSpc>
                <a:spcPct val="106300"/>
              </a:lnSpc>
              <a:spcBef>
                <a:spcPts val="1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Natural</a:t>
            </a:r>
            <a:r>
              <a:rPr dirty="0" sz="15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Trebuchet MS"/>
                <a:cs typeface="Trebuchet MS"/>
              </a:rPr>
              <a:t>Language Explanations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2200"/>
              </a:lnSpc>
              <a:spcBef>
                <a:spcPts val="735"/>
              </a:spcBef>
            </a:pP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dirty="0" sz="130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context-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rich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feedback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 that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educates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developers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reasoning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behind </a:t>
            </a:r>
            <a:r>
              <a:rPr dirty="0" sz="1300" spc="-30">
                <a:solidFill>
                  <a:srgbClr val="FFFFFF"/>
                </a:solidFill>
                <a:latin typeface="Verdana"/>
                <a:cs typeface="Verdana"/>
              </a:rPr>
              <a:t>suggestions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63308" y="6494825"/>
            <a:ext cx="564769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Bridges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gap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between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mechanical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linting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thoughtful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60">
                <a:solidFill>
                  <a:srgbClr val="FFFFFF"/>
                </a:solidFill>
                <a:latin typeface="Verdana"/>
                <a:cs typeface="Verdana"/>
              </a:rPr>
              <a:t>human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review.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99" y="1335209"/>
            <a:ext cx="5945505" cy="4902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Reporting</a:t>
            </a:r>
            <a:r>
              <a:rPr dirty="0" spc="-150"/>
              <a:t> </a:t>
            </a:r>
            <a:r>
              <a:rPr dirty="0"/>
              <a:t>&amp;</a:t>
            </a:r>
            <a:r>
              <a:rPr dirty="0" spc="-145"/>
              <a:t> </a:t>
            </a:r>
            <a:r>
              <a:rPr dirty="0" spc="-30"/>
              <a:t>Developer</a:t>
            </a:r>
            <a:r>
              <a:rPr dirty="0" spc="-145"/>
              <a:t> </a:t>
            </a:r>
            <a:r>
              <a:rPr dirty="0" spc="-10"/>
              <a:t>Workflow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33310" y="3675951"/>
            <a:ext cx="2746375" cy="1144270"/>
          </a:xfrm>
          <a:custGeom>
            <a:avLst/>
            <a:gdLst/>
            <a:ahLst/>
            <a:cxnLst/>
            <a:rect l="l" t="t" r="r" b="b"/>
            <a:pathLst>
              <a:path w="2746375" h="1144270">
                <a:moveTo>
                  <a:pt x="2746260" y="575868"/>
                </a:moveTo>
                <a:lnTo>
                  <a:pt x="2744444" y="565683"/>
                </a:lnTo>
                <a:lnTo>
                  <a:pt x="2739428" y="557060"/>
                </a:lnTo>
                <a:lnTo>
                  <a:pt x="2731859" y="550621"/>
                </a:lnTo>
                <a:lnTo>
                  <a:pt x="2722410" y="547039"/>
                </a:lnTo>
                <a:lnTo>
                  <a:pt x="2722410" y="62661"/>
                </a:lnTo>
                <a:lnTo>
                  <a:pt x="2717647" y="39116"/>
                </a:lnTo>
                <a:lnTo>
                  <a:pt x="2704681" y="19875"/>
                </a:lnTo>
                <a:lnTo>
                  <a:pt x="2685440" y="6908"/>
                </a:lnTo>
                <a:lnTo>
                  <a:pt x="2661894" y="2146"/>
                </a:lnTo>
                <a:lnTo>
                  <a:pt x="2487218" y="2146"/>
                </a:lnTo>
                <a:lnTo>
                  <a:pt x="2463660" y="6908"/>
                </a:lnTo>
                <a:lnTo>
                  <a:pt x="2444419" y="19875"/>
                </a:lnTo>
                <a:lnTo>
                  <a:pt x="2431453" y="39116"/>
                </a:lnTo>
                <a:lnTo>
                  <a:pt x="2426703" y="62661"/>
                </a:lnTo>
                <a:lnTo>
                  <a:pt x="2426703" y="559485"/>
                </a:lnTo>
                <a:lnTo>
                  <a:pt x="2400490" y="585685"/>
                </a:lnTo>
                <a:lnTo>
                  <a:pt x="2400490" y="588302"/>
                </a:lnTo>
                <a:lnTo>
                  <a:pt x="2403716" y="591515"/>
                </a:lnTo>
                <a:lnTo>
                  <a:pt x="2406319" y="591515"/>
                </a:lnTo>
                <a:lnTo>
                  <a:pt x="2426703" y="571144"/>
                </a:lnTo>
                <a:lnTo>
                  <a:pt x="2426703" y="1059395"/>
                </a:lnTo>
                <a:lnTo>
                  <a:pt x="2422804" y="1078674"/>
                </a:lnTo>
                <a:lnTo>
                  <a:pt x="2412187" y="1094409"/>
                </a:lnTo>
                <a:lnTo>
                  <a:pt x="2396452" y="1105027"/>
                </a:lnTo>
                <a:lnTo>
                  <a:pt x="2377173" y="1108913"/>
                </a:lnTo>
                <a:lnTo>
                  <a:pt x="1796745" y="1108913"/>
                </a:lnTo>
                <a:lnTo>
                  <a:pt x="1777479" y="1105027"/>
                </a:lnTo>
                <a:lnTo>
                  <a:pt x="1761744" y="1094409"/>
                </a:lnTo>
                <a:lnTo>
                  <a:pt x="1751126" y="1078674"/>
                </a:lnTo>
                <a:lnTo>
                  <a:pt x="1747240" y="1059395"/>
                </a:lnTo>
                <a:lnTo>
                  <a:pt x="1747240" y="587654"/>
                </a:lnTo>
                <a:lnTo>
                  <a:pt x="1771611" y="563283"/>
                </a:lnTo>
                <a:lnTo>
                  <a:pt x="1771611" y="560679"/>
                </a:lnTo>
                <a:lnTo>
                  <a:pt x="1768386" y="557453"/>
                </a:lnTo>
                <a:lnTo>
                  <a:pt x="1765769" y="557453"/>
                </a:lnTo>
                <a:lnTo>
                  <a:pt x="1747240" y="575983"/>
                </a:lnTo>
                <a:lnTo>
                  <a:pt x="1747240" y="62661"/>
                </a:lnTo>
                <a:lnTo>
                  <a:pt x="1742478" y="39116"/>
                </a:lnTo>
                <a:lnTo>
                  <a:pt x="1729511" y="19875"/>
                </a:lnTo>
                <a:lnTo>
                  <a:pt x="1710270" y="6908"/>
                </a:lnTo>
                <a:lnTo>
                  <a:pt x="1686725" y="2146"/>
                </a:lnTo>
                <a:lnTo>
                  <a:pt x="1084275" y="2146"/>
                </a:lnTo>
                <a:lnTo>
                  <a:pt x="1060729" y="6908"/>
                </a:lnTo>
                <a:lnTo>
                  <a:pt x="1041488" y="19875"/>
                </a:lnTo>
                <a:lnTo>
                  <a:pt x="1028522" y="39116"/>
                </a:lnTo>
                <a:lnTo>
                  <a:pt x="1023772" y="62661"/>
                </a:lnTo>
                <a:lnTo>
                  <a:pt x="1023772" y="559473"/>
                </a:lnTo>
                <a:lnTo>
                  <a:pt x="997559" y="585685"/>
                </a:lnTo>
                <a:lnTo>
                  <a:pt x="997559" y="588302"/>
                </a:lnTo>
                <a:lnTo>
                  <a:pt x="1000785" y="591515"/>
                </a:lnTo>
                <a:lnTo>
                  <a:pt x="1003401" y="591515"/>
                </a:lnTo>
                <a:lnTo>
                  <a:pt x="1023772" y="571144"/>
                </a:lnTo>
                <a:lnTo>
                  <a:pt x="1023772" y="1083398"/>
                </a:lnTo>
                <a:lnTo>
                  <a:pt x="1019873" y="1102677"/>
                </a:lnTo>
                <a:lnTo>
                  <a:pt x="1009269" y="1118412"/>
                </a:lnTo>
                <a:lnTo>
                  <a:pt x="993521" y="1129017"/>
                </a:lnTo>
                <a:lnTo>
                  <a:pt x="974255" y="1132903"/>
                </a:lnTo>
                <a:lnTo>
                  <a:pt x="384200" y="1132903"/>
                </a:lnTo>
                <a:lnTo>
                  <a:pt x="364921" y="1129017"/>
                </a:lnTo>
                <a:lnTo>
                  <a:pt x="349186" y="1118412"/>
                </a:lnTo>
                <a:lnTo>
                  <a:pt x="338569" y="1102677"/>
                </a:lnTo>
                <a:lnTo>
                  <a:pt x="334683" y="1083398"/>
                </a:lnTo>
                <a:lnTo>
                  <a:pt x="334683" y="589026"/>
                </a:lnTo>
                <a:lnTo>
                  <a:pt x="360413" y="563283"/>
                </a:lnTo>
                <a:lnTo>
                  <a:pt x="360413" y="560679"/>
                </a:lnTo>
                <a:lnTo>
                  <a:pt x="358800" y="559066"/>
                </a:lnTo>
                <a:lnTo>
                  <a:pt x="357200" y="557453"/>
                </a:lnTo>
                <a:lnTo>
                  <a:pt x="354584" y="557453"/>
                </a:lnTo>
                <a:lnTo>
                  <a:pt x="334683" y="577354"/>
                </a:lnTo>
                <a:lnTo>
                  <a:pt x="334683" y="62230"/>
                </a:lnTo>
                <a:lnTo>
                  <a:pt x="329971" y="38798"/>
                </a:lnTo>
                <a:lnTo>
                  <a:pt x="317119" y="19608"/>
                </a:lnTo>
                <a:lnTo>
                  <a:pt x="298043" y="6604"/>
                </a:lnTo>
                <a:lnTo>
                  <a:pt x="274650" y="1714"/>
                </a:lnTo>
                <a:lnTo>
                  <a:pt x="84836" y="0"/>
                </a:lnTo>
                <a:lnTo>
                  <a:pt x="61125" y="4622"/>
                </a:lnTo>
                <a:lnTo>
                  <a:pt x="41732" y="17564"/>
                </a:lnTo>
                <a:lnTo>
                  <a:pt x="28638" y="36855"/>
                </a:lnTo>
                <a:lnTo>
                  <a:pt x="23837" y="60515"/>
                </a:lnTo>
                <a:lnTo>
                  <a:pt x="23837" y="547039"/>
                </a:lnTo>
                <a:lnTo>
                  <a:pt x="14389" y="550621"/>
                </a:lnTo>
                <a:lnTo>
                  <a:pt x="6819" y="557060"/>
                </a:lnTo>
                <a:lnTo>
                  <a:pt x="1816" y="565683"/>
                </a:lnTo>
                <a:lnTo>
                  <a:pt x="0" y="575868"/>
                </a:lnTo>
                <a:lnTo>
                  <a:pt x="2298" y="587286"/>
                </a:lnTo>
                <a:lnTo>
                  <a:pt x="8585" y="596620"/>
                </a:lnTo>
                <a:lnTo>
                  <a:pt x="17919" y="602907"/>
                </a:lnTo>
                <a:lnTo>
                  <a:pt x="29337" y="605205"/>
                </a:lnTo>
                <a:lnTo>
                  <a:pt x="40754" y="602907"/>
                </a:lnTo>
                <a:lnTo>
                  <a:pt x="50088" y="596620"/>
                </a:lnTo>
                <a:lnTo>
                  <a:pt x="56375" y="587286"/>
                </a:lnTo>
                <a:lnTo>
                  <a:pt x="58686" y="575868"/>
                </a:lnTo>
                <a:lnTo>
                  <a:pt x="56870" y="565683"/>
                </a:lnTo>
                <a:lnTo>
                  <a:pt x="51854" y="557060"/>
                </a:lnTo>
                <a:lnTo>
                  <a:pt x="44297" y="550621"/>
                </a:lnTo>
                <a:lnTo>
                  <a:pt x="34836" y="547039"/>
                </a:lnTo>
                <a:lnTo>
                  <a:pt x="34836" y="60515"/>
                </a:lnTo>
                <a:lnTo>
                  <a:pt x="38773" y="41160"/>
                </a:lnTo>
                <a:lnTo>
                  <a:pt x="49479" y="25374"/>
                </a:lnTo>
                <a:lnTo>
                  <a:pt x="65341" y="14782"/>
                </a:lnTo>
                <a:lnTo>
                  <a:pt x="84747" y="10998"/>
                </a:lnTo>
                <a:lnTo>
                  <a:pt x="274548" y="12712"/>
                </a:lnTo>
                <a:lnTo>
                  <a:pt x="293700" y="16725"/>
                </a:lnTo>
                <a:lnTo>
                  <a:pt x="309308" y="27355"/>
                </a:lnTo>
                <a:lnTo>
                  <a:pt x="319824" y="43053"/>
                </a:lnTo>
                <a:lnTo>
                  <a:pt x="323672" y="62230"/>
                </a:lnTo>
                <a:lnTo>
                  <a:pt x="323672" y="576453"/>
                </a:lnTo>
                <a:lnTo>
                  <a:pt x="304673" y="557453"/>
                </a:lnTo>
                <a:lnTo>
                  <a:pt x="302069" y="557453"/>
                </a:lnTo>
                <a:lnTo>
                  <a:pt x="298843" y="560679"/>
                </a:lnTo>
                <a:lnTo>
                  <a:pt x="298843" y="563283"/>
                </a:lnTo>
                <a:lnTo>
                  <a:pt x="323672" y="588124"/>
                </a:lnTo>
                <a:lnTo>
                  <a:pt x="323672" y="1083398"/>
                </a:lnTo>
                <a:lnTo>
                  <a:pt x="328434" y="1106957"/>
                </a:lnTo>
                <a:lnTo>
                  <a:pt x="341401" y="1126197"/>
                </a:lnTo>
                <a:lnTo>
                  <a:pt x="360641" y="1139164"/>
                </a:lnTo>
                <a:lnTo>
                  <a:pt x="384200" y="1143914"/>
                </a:lnTo>
                <a:lnTo>
                  <a:pt x="974255" y="1143914"/>
                </a:lnTo>
                <a:lnTo>
                  <a:pt x="997800" y="1139164"/>
                </a:lnTo>
                <a:lnTo>
                  <a:pt x="1017041" y="1126197"/>
                </a:lnTo>
                <a:lnTo>
                  <a:pt x="1030008" y="1106957"/>
                </a:lnTo>
                <a:lnTo>
                  <a:pt x="1034770" y="1083398"/>
                </a:lnTo>
                <a:lnTo>
                  <a:pt x="1034770" y="572998"/>
                </a:lnTo>
                <a:lnTo>
                  <a:pt x="1053299" y="591515"/>
                </a:lnTo>
                <a:lnTo>
                  <a:pt x="1055916" y="591515"/>
                </a:lnTo>
                <a:lnTo>
                  <a:pt x="1057529" y="589915"/>
                </a:lnTo>
                <a:lnTo>
                  <a:pt x="1059141" y="588302"/>
                </a:lnTo>
                <a:lnTo>
                  <a:pt x="1059141" y="585685"/>
                </a:lnTo>
                <a:lnTo>
                  <a:pt x="1034770" y="561314"/>
                </a:lnTo>
                <a:lnTo>
                  <a:pt x="1034770" y="62661"/>
                </a:lnTo>
                <a:lnTo>
                  <a:pt x="1038656" y="43395"/>
                </a:lnTo>
                <a:lnTo>
                  <a:pt x="1049274" y="27647"/>
                </a:lnTo>
                <a:lnTo>
                  <a:pt x="1065009" y="17043"/>
                </a:lnTo>
                <a:lnTo>
                  <a:pt x="1084287" y="13144"/>
                </a:lnTo>
                <a:lnTo>
                  <a:pt x="1686712" y="13144"/>
                </a:lnTo>
                <a:lnTo>
                  <a:pt x="1705991" y="17043"/>
                </a:lnTo>
                <a:lnTo>
                  <a:pt x="1721726" y="27647"/>
                </a:lnTo>
                <a:lnTo>
                  <a:pt x="1732343" y="43395"/>
                </a:lnTo>
                <a:lnTo>
                  <a:pt x="1736242" y="62661"/>
                </a:lnTo>
                <a:lnTo>
                  <a:pt x="1736242" y="577837"/>
                </a:lnTo>
                <a:lnTo>
                  <a:pt x="1715871" y="557453"/>
                </a:lnTo>
                <a:lnTo>
                  <a:pt x="1713255" y="557453"/>
                </a:lnTo>
                <a:lnTo>
                  <a:pt x="1711642" y="559066"/>
                </a:lnTo>
                <a:lnTo>
                  <a:pt x="1710029" y="560679"/>
                </a:lnTo>
                <a:lnTo>
                  <a:pt x="1710029" y="563283"/>
                </a:lnTo>
                <a:lnTo>
                  <a:pt x="1736242" y="589508"/>
                </a:lnTo>
                <a:lnTo>
                  <a:pt x="1736242" y="1059395"/>
                </a:lnTo>
                <a:lnTo>
                  <a:pt x="1740992" y="1082954"/>
                </a:lnTo>
                <a:lnTo>
                  <a:pt x="1753958" y="1102194"/>
                </a:lnTo>
                <a:lnTo>
                  <a:pt x="1773199" y="1115161"/>
                </a:lnTo>
                <a:lnTo>
                  <a:pt x="1796757" y="1119911"/>
                </a:lnTo>
                <a:lnTo>
                  <a:pt x="2377173" y="1119911"/>
                </a:lnTo>
                <a:lnTo>
                  <a:pt x="2400744" y="1115161"/>
                </a:lnTo>
                <a:lnTo>
                  <a:pt x="2419985" y="1102194"/>
                </a:lnTo>
                <a:lnTo>
                  <a:pt x="2432951" y="1082954"/>
                </a:lnTo>
                <a:lnTo>
                  <a:pt x="2437714" y="1059395"/>
                </a:lnTo>
                <a:lnTo>
                  <a:pt x="2437714" y="573011"/>
                </a:lnTo>
                <a:lnTo>
                  <a:pt x="2456230" y="591515"/>
                </a:lnTo>
                <a:lnTo>
                  <a:pt x="2458847" y="591515"/>
                </a:lnTo>
                <a:lnTo>
                  <a:pt x="2460460" y="589915"/>
                </a:lnTo>
                <a:lnTo>
                  <a:pt x="2462060" y="588302"/>
                </a:lnTo>
                <a:lnTo>
                  <a:pt x="2462060" y="585685"/>
                </a:lnTo>
                <a:lnTo>
                  <a:pt x="2437714" y="561340"/>
                </a:lnTo>
                <a:lnTo>
                  <a:pt x="2437714" y="62661"/>
                </a:lnTo>
                <a:lnTo>
                  <a:pt x="2441600" y="43395"/>
                </a:lnTo>
                <a:lnTo>
                  <a:pt x="2452205" y="27647"/>
                </a:lnTo>
                <a:lnTo>
                  <a:pt x="2467940" y="17043"/>
                </a:lnTo>
                <a:lnTo>
                  <a:pt x="2487218" y="13144"/>
                </a:lnTo>
                <a:lnTo>
                  <a:pt x="2661894" y="13144"/>
                </a:lnTo>
                <a:lnTo>
                  <a:pt x="2681160" y="17043"/>
                </a:lnTo>
                <a:lnTo>
                  <a:pt x="2696908" y="27647"/>
                </a:lnTo>
                <a:lnTo>
                  <a:pt x="2707513" y="43395"/>
                </a:lnTo>
                <a:lnTo>
                  <a:pt x="2711412" y="62661"/>
                </a:lnTo>
                <a:lnTo>
                  <a:pt x="2711412" y="547039"/>
                </a:lnTo>
                <a:lnTo>
                  <a:pt x="2701950" y="550621"/>
                </a:lnTo>
                <a:lnTo>
                  <a:pt x="2694394" y="557060"/>
                </a:lnTo>
                <a:lnTo>
                  <a:pt x="2689377" y="565683"/>
                </a:lnTo>
                <a:lnTo>
                  <a:pt x="2687574" y="575868"/>
                </a:lnTo>
                <a:lnTo>
                  <a:pt x="2689872" y="587286"/>
                </a:lnTo>
                <a:lnTo>
                  <a:pt x="2696159" y="596620"/>
                </a:lnTo>
                <a:lnTo>
                  <a:pt x="2705481" y="602907"/>
                </a:lnTo>
                <a:lnTo>
                  <a:pt x="2716911" y="605205"/>
                </a:lnTo>
                <a:lnTo>
                  <a:pt x="2728328" y="602907"/>
                </a:lnTo>
                <a:lnTo>
                  <a:pt x="2737662" y="596620"/>
                </a:lnTo>
                <a:lnTo>
                  <a:pt x="2743949" y="587286"/>
                </a:lnTo>
                <a:lnTo>
                  <a:pt x="2746260" y="575868"/>
                </a:lnTo>
                <a:close/>
              </a:path>
            </a:pathLst>
          </a:custGeom>
          <a:solidFill>
            <a:srgbClr val="F2B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59512" y="4536524"/>
            <a:ext cx="507365" cy="20764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450" spc="-10" b="1">
                <a:solidFill>
                  <a:srgbClr val="FFFFFF"/>
                </a:solidFill>
                <a:latin typeface="Trebuchet MS"/>
                <a:cs typeface="Trebuchet MS"/>
              </a:rPr>
              <a:t>CRITICAL</a:t>
            </a:r>
            <a:endParaRPr sz="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350" spc="-20">
                <a:solidFill>
                  <a:srgbClr val="FFFFFF"/>
                </a:solidFill>
                <a:latin typeface="Verdana"/>
                <a:cs typeface="Verdana"/>
              </a:rPr>
              <a:t>Immediate</a:t>
            </a:r>
            <a:r>
              <a:rPr dirty="0" sz="35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FFFFFF"/>
                </a:solidFill>
                <a:latin typeface="Verdana"/>
                <a:cs typeface="Verdana"/>
              </a:rPr>
              <a:t>fix</a:t>
            </a:r>
            <a:r>
              <a:rPr dirty="0" sz="3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FFFFFF"/>
                </a:solidFill>
                <a:latin typeface="Verdana"/>
                <a:cs typeface="Verdana"/>
              </a:rPr>
              <a:t>required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08256" y="4517260"/>
            <a:ext cx="421640" cy="20764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450" spc="-20" b="1">
                <a:solidFill>
                  <a:srgbClr val="FFFFFF"/>
                </a:solidFill>
                <a:latin typeface="Trebuchet MS"/>
                <a:cs typeface="Trebuchet MS"/>
              </a:rPr>
              <a:t>INFO</a:t>
            </a:r>
            <a:endParaRPr sz="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350" spc="-20">
                <a:solidFill>
                  <a:srgbClr val="FFFFFF"/>
                </a:solidFill>
                <a:latin typeface="Verdana"/>
                <a:cs typeface="Verdana"/>
              </a:rPr>
              <a:t>Informational</a:t>
            </a:r>
            <a:r>
              <a:rPr dirty="0" sz="350" spc="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" spc="-20">
                <a:solidFill>
                  <a:srgbClr val="FFFFFF"/>
                </a:solidFill>
                <a:latin typeface="Verdana"/>
                <a:cs typeface="Verdana"/>
              </a:rPr>
              <a:t>note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838955" y="3889247"/>
            <a:ext cx="5649595" cy="511809"/>
            <a:chOff x="3838955" y="3889247"/>
            <a:chExt cx="5649595" cy="511809"/>
          </a:xfrm>
        </p:grpSpPr>
        <p:sp>
          <p:nvSpPr>
            <p:cNvPr id="7" name="object 7" descr=""/>
            <p:cNvSpPr/>
            <p:nvPr/>
          </p:nvSpPr>
          <p:spPr>
            <a:xfrm>
              <a:off x="3838955" y="3889247"/>
              <a:ext cx="5649595" cy="511809"/>
            </a:xfrm>
            <a:custGeom>
              <a:avLst/>
              <a:gdLst/>
              <a:ahLst/>
              <a:cxnLst/>
              <a:rect l="l" t="t" r="r" b="b"/>
              <a:pathLst>
                <a:path w="5649595" h="511810">
                  <a:moveTo>
                    <a:pt x="5450484" y="0"/>
                  </a:moveTo>
                  <a:lnTo>
                    <a:pt x="198983" y="0"/>
                  </a:lnTo>
                  <a:lnTo>
                    <a:pt x="192252" y="330"/>
                  </a:lnTo>
                  <a:lnTo>
                    <a:pt x="152450" y="6908"/>
                  </a:lnTo>
                  <a:lnTo>
                    <a:pt x="114681" y="21120"/>
                  </a:lnTo>
                  <a:lnTo>
                    <a:pt x="80416" y="42418"/>
                  </a:lnTo>
                  <a:lnTo>
                    <a:pt x="50965" y="70002"/>
                  </a:lnTo>
                  <a:lnTo>
                    <a:pt x="27470" y="102793"/>
                  </a:lnTo>
                  <a:lnTo>
                    <a:pt x="10820" y="139560"/>
                  </a:lnTo>
                  <a:lnTo>
                    <a:pt x="1651" y="178854"/>
                  </a:lnTo>
                  <a:lnTo>
                    <a:pt x="0" y="198983"/>
                  </a:lnTo>
                  <a:lnTo>
                    <a:pt x="0" y="305587"/>
                  </a:lnTo>
                  <a:lnTo>
                    <a:pt x="0" y="312318"/>
                  </a:lnTo>
                  <a:lnTo>
                    <a:pt x="5270" y="352323"/>
                  </a:lnTo>
                  <a:lnTo>
                    <a:pt x="18237" y="390537"/>
                  </a:lnTo>
                  <a:lnTo>
                    <a:pt x="38417" y="425475"/>
                  </a:lnTo>
                  <a:lnTo>
                    <a:pt x="65024" y="455815"/>
                  </a:lnTo>
                  <a:lnTo>
                    <a:pt x="97028" y="480377"/>
                  </a:lnTo>
                  <a:lnTo>
                    <a:pt x="133223" y="498221"/>
                  </a:lnTo>
                  <a:lnTo>
                    <a:pt x="172186" y="508660"/>
                  </a:lnTo>
                  <a:lnTo>
                    <a:pt x="198983" y="511302"/>
                  </a:lnTo>
                  <a:lnTo>
                    <a:pt x="5450484" y="511302"/>
                  </a:lnTo>
                  <a:lnTo>
                    <a:pt x="5490489" y="506031"/>
                  </a:lnTo>
                  <a:lnTo>
                    <a:pt x="5528703" y="493064"/>
                  </a:lnTo>
                  <a:lnTo>
                    <a:pt x="5563641" y="472884"/>
                  </a:lnTo>
                  <a:lnTo>
                    <a:pt x="5593981" y="446278"/>
                  </a:lnTo>
                  <a:lnTo>
                    <a:pt x="5618543" y="414274"/>
                  </a:lnTo>
                  <a:lnTo>
                    <a:pt x="5636387" y="378079"/>
                  </a:lnTo>
                  <a:lnTo>
                    <a:pt x="5646826" y="339102"/>
                  </a:lnTo>
                  <a:lnTo>
                    <a:pt x="5649468" y="312318"/>
                  </a:lnTo>
                  <a:lnTo>
                    <a:pt x="5649468" y="198983"/>
                  </a:lnTo>
                  <a:lnTo>
                    <a:pt x="5644197" y="158978"/>
                  </a:lnTo>
                  <a:lnTo>
                    <a:pt x="5631230" y="120764"/>
                  </a:lnTo>
                  <a:lnTo>
                    <a:pt x="5611050" y="85826"/>
                  </a:lnTo>
                  <a:lnTo>
                    <a:pt x="5584444" y="55486"/>
                  </a:lnTo>
                  <a:lnTo>
                    <a:pt x="5552440" y="30924"/>
                  </a:lnTo>
                  <a:lnTo>
                    <a:pt x="5516245" y="13081"/>
                  </a:lnTo>
                  <a:lnTo>
                    <a:pt x="5477268" y="2641"/>
                  </a:lnTo>
                  <a:lnTo>
                    <a:pt x="5457215" y="330"/>
                  </a:lnTo>
                  <a:lnTo>
                    <a:pt x="5450484" y="0"/>
                  </a:lnTo>
                  <a:close/>
                </a:path>
              </a:pathLst>
            </a:custGeom>
            <a:solidFill>
              <a:srgbClr val="0D0D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8955" y="3889248"/>
              <a:ext cx="5649595" cy="511809"/>
            </a:xfrm>
            <a:custGeom>
              <a:avLst/>
              <a:gdLst/>
              <a:ahLst/>
              <a:cxnLst/>
              <a:rect l="l" t="t" r="r" b="b"/>
              <a:pathLst>
                <a:path w="5649595" h="511810">
                  <a:moveTo>
                    <a:pt x="5443753" y="0"/>
                  </a:moveTo>
                  <a:lnTo>
                    <a:pt x="205714" y="0"/>
                  </a:lnTo>
                  <a:lnTo>
                    <a:pt x="195611" y="247"/>
                  </a:lnTo>
                  <a:lnTo>
                    <a:pt x="155719" y="6166"/>
                  </a:lnTo>
                  <a:lnTo>
                    <a:pt x="117748" y="19754"/>
                  </a:lnTo>
                  <a:lnTo>
                    <a:pt x="83164" y="40490"/>
                  </a:lnTo>
                  <a:lnTo>
                    <a:pt x="53278" y="67570"/>
                  </a:lnTo>
                  <a:lnTo>
                    <a:pt x="29260" y="99966"/>
                  </a:lnTo>
                  <a:lnTo>
                    <a:pt x="12020" y="136421"/>
                  </a:lnTo>
                  <a:lnTo>
                    <a:pt x="2223" y="175542"/>
                  </a:lnTo>
                  <a:lnTo>
                    <a:pt x="0" y="205714"/>
                  </a:lnTo>
                  <a:lnTo>
                    <a:pt x="0" y="305587"/>
                  </a:lnTo>
                  <a:lnTo>
                    <a:pt x="3949" y="345719"/>
                  </a:lnTo>
                  <a:lnTo>
                    <a:pt x="15659" y="384301"/>
                  </a:lnTo>
                  <a:lnTo>
                    <a:pt x="34670" y="419874"/>
                  </a:lnTo>
                  <a:lnTo>
                    <a:pt x="60248" y="451040"/>
                  </a:lnTo>
                  <a:lnTo>
                    <a:pt x="91427" y="476630"/>
                  </a:lnTo>
                  <a:lnTo>
                    <a:pt x="126987" y="495642"/>
                  </a:lnTo>
                  <a:lnTo>
                    <a:pt x="165582" y="507352"/>
                  </a:lnTo>
                  <a:lnTo>
                    <a:pt x="205714" y="511301"/>
                  </a:lnTo>
                  <a:lnTo>
                    <a:pt x="5443753" y="511301"/>
                  </a:lnTo>
                  <a:lnTo>
                    <a:pt x="5483885" y="507352"/>
                  </a:lnTo>
                  <a:lnTo>
                    <a:pt x="5522467" y="495642"/>
                  </a:lnTo>
                  <a:lnTo>
                    <a:pt x="5558040" y="476630"/>
                  </a:lnTo>
                  <a:lnTo>
                    <a:pt x="5589206" y="451040"/>
                  </a:lnTo>
                  <a:lnTo>
                    <a:pt x="5614796" y="419874"/>
                  </a:lnTo>
                  <a:lnTo>
                    <a:pt x="5633808" y="384301"/>
                  </a:lnTo>
                  <a:lnTo>
                    <a:pt x="5645517" y="345719"/>
                  </a:lnTo>
                  <a:lnTo>
                    <a:pt x="5649467" y="305587"/>
                  </a:lnTo>
                  <a:lnTo>
                    <a:pt x="5649467" y="205714"/>
                  </a:lnTo>
                  <a:lnTo>
                    <a:pt x="5645517" y="165582"/>
                  </a:lnTo>
                  <a:lnTo>
                    <a:pt x="5633808" y="126987"/>
                  </a:lnTo>
                  <a:lnTo>
                    <a:pt x="5614796" y="91427"/>
                  </a:lnTo>
                  <a:lnTo>
                    <a:pt x="5589206" y="60248"/>
                  </a:lnTo>
                  <a:lnTo>
                    <a:pt x="5558040" y="34670"/>
                  </a:lnTo>
                  <a:lnTo>
                    <a:pt x="5522467" y="15659"/>
                  </a:lnTo>
                  <a:lnTo>
                    <a:pt x="5483885" y="3949"/>
                  </a:lnTo>
                  <a:lnTo>
                    <a:pt x="5443753" y="0"/>
                  </a:lnTo>
                  <a:close/>
                </a:path>
              </a:pathLst>
            </a:custGeom>
            <a:solidFill>
              <a:srgbClr val="0D0D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798797" y="2236106"/>
            <a:ext cx="7562850" cy="200913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42795">
              <a:lnSpc>
                <a:spcPct val="100000"/>
              </a:lnSpc>
              <a:spcBef>
                <a:spcPts val="125"/>
              </a:spcBef>
            </a:pPr>
            <a:r>
              <a:rPr dirty="0" sz="1800" spc="-25" b="1">
                <a:solidFill>
                  <a:srgbClr val="FFFFFF"/>
                </a:solidFill>
                <a:latin typeface="Trebuchet MS"/>
                <a:cs typeface="Trebuchet MS"/>
              </a:rPr>
              <a:t>Severity-</a:t>
            </a: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1800" spc="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Categorization</a:t>
            </a:r>
            <a:endParaRPr sz="1800">
              <a:latin typeface="Trebuchet MS"/>
              <a:cs typeface="Trebuchet MS"/>
            </a:endParaRPr>
          </a:p>
          <a:p>
            <a:pPr marL="2042795" marR="5080">
              <a:lnSpc>
                <a:spcPct val="135400"/>
              </a:lnSpc>
              <a:spcBef>
                <a:spcPts val="1155"/>
              </a:spcBef>
            </a:pP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automatically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classified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65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impact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help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developers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prioritize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fixes </a:t>
            </a:r>
            <a:r>
              <a:rPr dirty="0" sz="1300" spc="-35">
                <a:solidFill>
                  <a:srgbClr val="FFFFFF"/>
                </a:solidFill>
                <a:latin typeface="Verdana"/>
                <a:cs typeface="Verdana"/>
              </a:rPr>
              <a:t>effectively.</a:t>
            </a:r>
            <a:endParaRPr sz="1300">
              <a:latin typeface="Verdana"/>
              <a:cs typeface="Verdana"/>
            </a:endParaRPr>
          </a:p>
          <a:p>
            <a:pPr marL="2042795">
              <a:lnSpc>
                <a:spcPct val="100000"/>
              </a:lnSpc>
              <a:spcBef>
                <a:spcPts val="1505"/>
              </a:spcBef>
            </a:pP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CLI</a:t>
            </a:r>
            <a:r>
              <a:rPr dirty="0" sz="180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1800">
              <a:latin typeface="Trebuchet MS"/>
              <a:cs typeface="Trebuchet MS"/>
            </a:endParaRPr>
          </a:p>
          <a:p>
            <a:pPr algn="ctr" marR="7112000">
              <a:lnSpc>
                <a:spcPct val="100000"/>
              </a:lnSpc>
              <a:spcBef>
                <a:spcPts val="595"/>
              </a:spcBef>
            </a:pPr>
            <a:r>
              <a:rPr dirty="0" sz="450" spc="-10" b="1">
                <a:solidFill>
                  <a:srgbClr val="FFFFFF"/>
                </a:solidFill>
                <a:latin typeface="Trebuchet MS"/>
                <a:cs typeface="Trebuchet MS"/>
              </a:rPr>
              <a:t>WARNING</a:t>
            </a:r>
            <a:endParaRPr sz="450">
              <a:latin typeface="Trebuchet MS"/>
              <a:cs typeface="Trebuchet MS"/>
            </a:endParaRPr>
          </a:p>
          <a:p>
            <a:pPr algn="ctr" marR="7112000">
              <a:lnSpc>
                <a:spcPct val="100000"/>
              </a:lnSpc>
              <a:spcBef>
                <a:spcPts val="229"/>
              </a:spcBef>
            </a:pPr>
            <a:r>
              <a:rPr dirty="0" sz="350" spc="-10">
                <a:solidFill>
                  <a:srgbClr val="FFFFFF"/>
                </a:solidFill>
                <a:latin typeface="Verdana"/>
                <a:cs typeface="Verdana"/>
              </a:rPr>
              <a:t>High priority</a:t>
            </a:r>
            <a:r>
              <a:rPr dirty="0" sz="35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FFFFFF"/>
                </a:solidFill>
                <a:latin typeface="Verdana"/>
                <a:cs typeface="Verdana"/>
              </a:rPr>
              <a:t>review</a:t>
            </a:r>
            <a:endParaRPr sz="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50">
              <a:latin typeface="Verdana"/>
              <a:cs typeface="Verdana"/>
            </a:endParaRPr>
          </a:p>
          <a:p>
            <a:pPr marL="219964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python</a:t>
            </a:r>
            <a:r>
              <a:rPr dirty="0" sz="1300" spc="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-7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300" spc="105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300" spc="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ai_code_reviewer.cli.main</a:t>
            </a:r>
            <a:r>
              <a:rPr dirty="0" sz="1300" spc="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review</a:t>
            </a:r>
            <a:r>
              <a:rPr dirty="0" sz="13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ahoma"/>
                <a:cs typeface="Tahoma"/>
              </a:rPr>
              <a:t>file.py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8228" y="4601717"/>
            <a:ext cx="251460" cy="2263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829393" y="4538110"/>
            <a:ext cx="5336540" cy="1693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580">
              <a:lnSpc>
                <a:spcPct val="131200"/>
              </a:lnSpc>
              <a:spcBef>
                <a:spcPts val="100"/>
              </a:spcBef>
            </a:pP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Optional</a:t>
            </a:r>
            <a:r>
              <a:rPr dirty="0" sz="13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5">
                <a:solidFill>
                  <a:srgbClr val="FFFFFF"/>
                </a:solidFill>
                <a:latin typeface="Verdana"/>
                <a:cs typeface="Verdana"/>
              </a:rPr>
              <a:t>AI-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enhanced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50">
                <a:solidFill>
                  <a:srgbClr val="FFFFFF"/>
                </a:solidFill>
                <a:latin typeface="Verdana"/>
                <a:cs typeface="Verdana"/>
              </a:rPr>
              <a:t>mode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activated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FFFFFF"/>
                </a:solidFill>
                <a:latin typeface="Tahoma"/>
                <a:cs typeface="Tahoma"/>
              </a:rPr>
              <a:t>--</a:t>
            </a: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dirty="0" sz="13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-85">
                <a:solidFill>
                  <a:srgbClr val="FFFFFF"/>
                </a:solidFill>
                <a:latin typeface="Verdana"/>
                <a:cs typeface="Verdana"/>
              </a:rPr>
              <a:t>flag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deeper</a:t>
            </a:r>
            <a:r>
              <a:rPr dirty="0" sz="13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analysis </a:t>
            </a:r>
            <a:r>
              <a:rPr dirty="0" sz="1300" spc="-135">
                <a:solidFill>
                  <a:srgbClr val="FFFFFF"/>
                </a:solidFill>
                <a:latin typeface="Verdana"/>
                <a:cs typeface="Verdana"/>
              </a:rPr>
              <a:t>when</a:t>
            </a:r>
            <a:r>
              <a:rPr dirty="0" sz="13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needed.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Interactive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35400"/>
              </a:lnSpc>
              <a:spcBef>
                <a:spcPts val="1150"/>
              </a:spcBef>
            </a:pP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Streamlit-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web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FFFFFF"/>
                </a:solidFill>
                <a:latin typeface="Verdana"/>
                <a:cs typeface="Verdana"/>
              </a:rPr>
              <a:t>interface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dirty="0" sz="13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visual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FFFFFF"/>
                </a:solidFill>
                <a:latin typeface="Verdana"/>
                <a:cs typeface="Verdana"/>
              </a:rPr>
              <a:t>inspection</a:t>
            </a:r>
            <a:r>
              <a:rPr dirty="0" sz="13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Verdana"/>
                <a:cs typeface="Verdana"/>
              </a:rPr>
              <a:t>findings</a:t>
            </a:r>
            <a:r>
              <a:rPr dirty="0" sz="13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dirty="0" sz="1300" spc="-95">
                <a:solidFill>
                  <a:srgbClr val="FFFFFF"/>
                </a:solidFill>
                <a:latin typeface="Verdana"/>
                <a:cs typeface="Verdana"/>
              </a:rPr>
              <a:t>filtering,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search,</a:t>
            </a:r>
            <a:r>
              <a:rPr dirty="0" sz="13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FFFFFF"/>
                </a:solidFill>
                <a:latin typeface="Verdana"/>
                <a:cs typeface="Verdana"/>
              </a:rPr>
              <a:t>drill-</a:t>
            </a:r>
            <a:r>
              <a:rPr dirty="0" sz="1300" spc="-130">
                <a:solidFill>
                  <a:srgbClr val="FFFFFF"/>
                </a:solidFill>
                <a:latin typeface="Verdana"/>
                <a:cs typeface="Verdana"/>
              </a:rPr>
              <a:t>down</a:t>
            </a:r>
            <a:r>
              <a:rPr dirty="0" sz="13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Verdana"/>
                <a:cs typeface="Verdana"/>
              </a:rPr>
              <a:t>capabilities.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30" y="494537"/>
            <a:ext cx="771144" cy="28498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06380" y="534225"/>
            <a:ext cx="426084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85">
                <a:solidFill>
                  <a:srgbClr val="FFFFFF"/>
                </a:solidFill>
                <a:latin typeface="Verdana"/>
                <a:cs typeface="Verdana"/>
              </a:rPr>
              <a:t>IMPACT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8200" y="805553"/>
            <a:ext cx="5539105" cy="46228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50" spc="-20"/>
              <a:t>Key</a:t>
            </a:r>
            <a:r>
              <a:rPr dirty="0" sz="2850" spc="-140"/>
              <a:t> </a:t>
            </a:r>
            <a:r>
              <a:rPr dirty="0" sz="2850" spc="-70"/>
              <a:t>Features</a:t>
            </a:r>
            <a:r>
              <a:rPr dirty="0" sz="2850" spc="-135"/>
              <a:t> </a:t>
            </a:r>
            <a:r>
              <a:rPr dirty="0" sz="2850"/>
              <a:t>&amp;</a:t>
            </a:r>
            <a:r>
              <a:rPr dirty="0" sz="2850" spc="-140"/>
              <a:t> </a:t>
            </a:r>
            <a:r>
              <a:rPr dirty="0" sz="2850" spc="-20"/>
              <a:t>Developer</a:t>
            </a:r>
            <a:r>
              <a:rPr dirty="0" sz="2850" spc="-135"/>
              <a:t> </a:t>
            </a:r>
            <a:r>
              <a:rPr dirty="0" sz="2850" spc="-10"/>
              <a:t>Impact</a:t>
            </a:r>
            <a:endParaRPr sz="2850"/>
          </a:p>
        </p:txBody>
      </p:sp>
      <p:sp>
        <p:nvSpPr>
          <p:cNvPr id="5" name="object 5" descr=""/>
          <p:cNvSpPr txBox="1"/>
          <p:nvPr/>
        </p:nvSpPr>
        <p:spPr>
          <a:xfrm>
            <a:off x="528200" y="1319786"/>
            <a:ext cx="1400175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r>
              <a:rPr dirty="0" sz="17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830" y="1922754"/>
            <a:ext cx="75435" cy="7543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50585" y="1808792"/>
            <a:ext cx="3419475" cy="565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Modular</a:t>
            </a:r>
            <a:r>
              <a:rPr dirty="0" sz="1400" spc="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Architecture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Extensible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custom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rules</a:t>
            </a:r>
            <a:r>
              <a:rPr dirty="0" sz="12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Verdana"/>
                <a:cs typeface="Verdana"/>
              </a:rPr>
              <a:t>integrations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1402" y="1922754"/>
            <a:ext cx="75438" cy="7543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329516" y="1808792"/>
            <a:ext cx="3133090" cy="565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Hybrid</a:t>
            </a:r>
            <a:r>
              <a:rPr dirty="0" sz="1400" spc="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dirty="0" sz="1400" spc="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200" spc="-120">
                <a:solidFill>
                  <a:srgbClr val="FFFFFF"/>
                </a:solidFill>
                <a:latin typeface="Verdana"/>
                <a:cs typeface="Verdana"/>
              </a:rPr>
              <a:t>Combines</a:t>
            </a:r>
            <a:r>
              <a:rPr dirty="0" sz="12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deterministic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rules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2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4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reasoning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830" y="2760954"/>
            <a:ext cx="75435" cy="8382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50585" y="2655374"/>
            <a:ext cx="3220720" cy="565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Severity</a:t>
            </a:r>
            <a:r>
              <a:rPr dirty="0" sz="14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Classification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200" spc="-120">
                <a:solidFill>
                  <a:srgbClr val="FFFFFF"/>
                </a:solidFill>
                <a:latin typeface="Verdana"/>
                <a:cs typeface="Verdana"/>
              </a:rPr>
              <a:t>Structured,</a:t>
            </a:r>
            <a:r>
              <a:rPr dirty="0" sz="1200" spc="-1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dirty="0" sz="12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FFFFFF"/>
                </a:solidFill>
                <a:latin typeface="Verdana"/>
                <a:cs typeface="Verdana"/>
              </a:rPr>
              <a:t>output</a:t>
            </a:r>
            <a:r>
              <a:rPr dirty="0" sz="12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2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priority</a:t>
            </a: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levels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1402" y="2760954"/>
            <a:ext cx="75438" cy="8382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329516" y="2655374"/>
            <a:ext cx="3577590" cy="565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Dual</a:t>
            </a:r>
            <a:r>
              <a:rPr dirty="0" sz="1400" spc="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Interface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200" spc="-105">
                <a:solidFill>
                  <a:srgbClr val="FFFFFF"/>
                </a:solidFill>
                <a:latin typeface="Verdana"/>
                <a:cs typeface="Verdana"/>
              </a:rPr>
              <a:t>Developer-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friendly</a:t>
            </a:r>
            <a:r>
              <a:rPr dirty="0" sz="12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Verdana"/>
                <a:cs typeface="Verdana"/>
              </a:rPr>
              <a:t>CLI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FFFFFF"/>
                </a:solidFill>
                <a:latin typeface="Verdana"/>
                <a:cs typeface="Verdana"/>
              </a:rPr>
              <a:t>interactive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FFFFFF"/>
                </a:solidFill>
                <a:latin typeface="Verdana"/>
                <a:cs typeface="Verdana"/>
              </a:rPr>
              <a:t>web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8205" y="3423669"/>
            <a:ext cx="1918335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Measurable</a:t>
            </a:r>
            <a:r>
              <a:rPr dirty="0" sz="17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1776" y="3971789"/>
            <a:ext cx="2337857" cy="2337858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550809" y="4864785"/>
            <a:ext cx="851535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245" b="1">
                <a:solidFill>
                  <a:srgbClr val="FFFFFF"/>
                </a:solidFill>
                <a:latin typeface="Trebuchet MS"/>
                <a:cs typeface="Trebuchet MS"/>
              </a:rPr>
              <a:t>60%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4073" y="6460799"/>
            <a:ext cx="2425065" cy="800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Reduced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endParaRPr sz="1400">
              <a:latin typeface="Trebuchet MS"/>
              <a:cs typeface="Trebuchet MS"/>
            </a:endParaRPr>
          </a:p>
          <a:p>
            <a:pPr algn="ctr" marL="12700" marR="5080">
              <a:lnSpc>
                <a:spcPct val="132900"/>
              </a:lnSpc>
              <a:spcBef>
                <a:spcPts val="555"/>
              </a:spcBef>
            </a:pP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checks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eliminate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manual inspection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3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62823" y="3971789"/>
            <a:ext cx="2337858" cy="2337858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4603419" y="4864785"/>
            <a:ext cx="851535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245" b="1">
                <a:solidFill>
                  <a:srgbClr val="FFFFFF"/>
                </a:solidFill>
                <a:latin typeface="Trebuchet MS"/>
                <a:cs typeface="Trebuchet MS"/>
              </a:rPr>
              <a:t>85%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78129" y="6460799"/>
            <a:ext cx="2701925" cy="800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Consistency</a:t>
            </a:r>
            <a:r>
              <a:rPr dirty="0" sz="14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Gain</a:t>
            </a:r>
            <a:endParaRPr sz="1400">
              <a:latin typeface="Trebuchet MS"/>
              <a:cs typeface="Trebuchet MS"/>
            </a:endParaRPr>
          </a:p>
          <a:p>
            <a:pPr algn="ctr" marL="12700" marR="5080">
              <a:lnSpc>
                <a:spcPct val="132900"/>
              </a:lnSpc>
              <a:spcBef>
                <a:spcPts val="555"/>
              </a:spcBef>
            </a:pPr>
            <a:r>
              <a:rPr dirty="0" sz="1200" spc="-110">
                <a:solidFill>
                  <a:srgbClr val="FFFFFF"/>
                </a:solidFill>
                <a:latin typeface="Verdana"/>
                <a:cs typeface="Verdana"/>
              </a:rPr>
              <a:t>Standardized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quality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FFFFFF"/>
                </a:solidFill>
                <a:latin typeface="Verdana"/>
                <a:cs typeface="Verdana"/>
              </a:rPr>
              <a:t>enforcement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across </a:t>
            </a:r>
            <a:r>
              <a:rPr dirty="0" sz="1200" spc="-3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FFFFFF"/>
                </a:solidFill>
                <a:latin typeface="Verdana"/>
                <a:cs typeface="Verdana"/>
              </a:rPr>
              <a:t>code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submissions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13871" y="3971789"/>
            <a:ext cx="2337858" cy="233785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656042" y="4864785"/>
            <a:ext cx="851535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245" b="1">
                <a:solidFill>
                  <a:srgbClr val="FFFFFF"/>
                </a:solidFill>
                <a:latin typeface="Trebuchet MS"/>
                <a:cs typeface="Trebuchet MS"/>
              </a:rPr>
              <a:t>40%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634360" y="6460799"/>
            <a:ext cx="2894965" cy="800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Fewer</a:t>
            </a:r>
            <a:r>
              <a:rPr dirty="0" sz="140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Defects</a:t>
            </a:r>
            <a:endParaRPr sz="1400">
              <a:latin typeface="Trebuchet MS"/>
              <a:cs typeface="Trebuchet MS"/>
            </a:endParaRPr>
          </a:p>
          <a:p>
            <a:pPr algn="ctr" marL="12700" marR="5080">
              <a:lnSpc>
                <a:spcPct val="132900"/>
              </a:lnSpc>
              <a:spcBef>
                <a:spcPts val="555"/>
              </a:spcBef>
            </a:pPr>
            <a:r>
              <a:rPr dirty="0" sz="1200" spc="-130">
                <a:solidFill>
                  <a:srgbClr val="FFFFFF"/>
                </a:solidFill>
                <a:latin typeface="Verdana"/>
                <a:cs typeface="Verdana"/>
              </a:rPr>
              <a:t>Improved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maintainability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FFFFFF"/>
                </a:solidFill>
                <a:latin typeface="Verdana"/>
                <a:cs typeface="Verdana"/>
              </a:rPr>
              <a:t>through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proactive </a:t>
            </a:r>
            <a:r>
              <a:rPr dirty="0" sz="1200" spc="-95">
                <a:solidFill>
                  <a:srgbClr val="FFFFFF"/>
                </a:solidFill>
                <a:latin typeface="Verdana"/>
                <a:cs typeface="Verdana"/>
              </a:rPr>
              <a:t>issue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detection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67" y="3345213"/>
            <a:ext cx="4611370" cy="9550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100">
                <a:latin typeface="Tahoma"/>
                <a:cs typeface="Tahoma"/>
              </a:rPr>
              <a:t>THANK</a:t>
            </a:r>
            <a:r>
              <a:rPr dirty="0" sz="6100" spc="-85">
                <a:latin typeface="Tahoma"/>
                <a:cs typeface="Tahoma"/>
              </a:rPr>
              <a:t> </a:t>
            </a:r>
            <a:r>
              <a:rPr dirty="0" sz="6100" spc="-130">
                <a:latin typeface="Tahoma"/>
                <a:cs typeface="Tahoma"/>
              </a:rPr>
              <a:t>YOU</a:t>
            </a:r>
            <a:endParaRPr sz="6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lightpdf.com</dc:creator>
  <dc:subject>LightPDF - Edit, Convert PDF Files Online for Free</dc:subject>
  <dc:title>Untitled</dc:title>
  <dcterms:created xsi:type="dcterms:W3CDTF">2026-02-22T03:26:02Z</dcterms:created>
  <dcterms:modified xsi:type="dcterms:W3CDTF">2026-02-22T03:26:02Z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2026-02-22T00:00:00Z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2026-02-22T00:00:00Z</vt:filetime>
  </property>
</Properties>
</file>